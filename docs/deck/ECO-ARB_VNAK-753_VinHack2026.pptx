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2.svg" ContentType="image/svg+xml"/>
  <Override PartName="/ppt/media/image4.svg" ContentType="image/svg+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sldIdLst>
    <p:sldId id="256" r:id="rId6"/>
    <p:sldId id="257" r:id="rId7"/>
    <p:sldId id="258" r:id="rId8"/>
    <p:sldId id="259" r:id="rId9"/>
    <p:sldId id="260" r:id="rId10"/>
    <p:sldId id="261" r:id="rId11"/>
  </p:sldIdLst>
  <p:sldSz cx="18288000" cy="10287000"/>
  <p:notesSz cx="6858000" cy="9144000"/>
  <p:embeddedFontLst>
    <p:embeddedFont>
      <p:font typeface="Aristotelica Pro" charset="1" panose="00000500000000000000"/>
      <p:regular r:id="rId12"/>
    </p:embeddedFont>
    <p:embeddedFont>
      <p:font typeface="Aristotelica Pro Bold" charset="1" panose="00000800000000000000"/>
      <p:regular r:id="rId13"/>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esProps" Target="presProps.xml"/><Relationship Id="rId3" Type="http://schemas.openxmlformats.org/officeDocument/2006/relationships/viewProps" Target="viewProps.xml"/><Relationship Id="rId4" Type="http://schemas.openxmlformats.org/officeDocument/2006/relationships/theme" Target="theme/theme1.xml"/><Relationship Id="rId5" Type="http://schemas.openxmlformats.org/officeDocument/2006/relationships/tableStyles" Target="tableStyles.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font" Target="fonts/font12.fntdata"/><Relationship Id="rId13" Type="http://schemas.openxmlformats.org/officeDocument/2006/relationships/font" Target="fonts/font13.fntdata"/></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3.png"/><Relationship Id="rId5" Type="http://schemas.openxmlformats.org/officeDocument/2006/relationships/image" Target="../media/image4.sv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jpeg"/><Relationship Id="rId9" Type="http://schemas.openxmlformats.org/officeDocument/2006/relationships/image" Target="../media/image8.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3.png"/><Relationship Id="rId5" Type="http://schemas.openxmlformats.org/officeDocument/2006/relationships/image" Target="../media/image4.sv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jpe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3.png"/><Relationship Id="rId5" Type="http://schemas.openxmlformats.org/officeDocument/2006/relationships/image" Target="../media/image4.sv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jpe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3.png"/><Relationship Id="rId5" Type="http://schemas.openxmlformats.org/officeDocument/2006/relationships/image" Target="../media/image4.sv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jpeg"/><Relationship Id="rId9" Type="http://schemas.openxmlformats.org/officeDocument/2006/relationships/image" Target="../media/image9.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3.png"/><Relationship Id="rId5" Type="http://schemas.openxmlformats.org/officeDocument/2006/relationships/image" Target="../media/image4.sv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jpeg"/><Relationship Id="rId9" Type="http://schemas.openxmlformats.org/officeDocument/2006/relationships/image" Target="../media/image10.png"/><Relationship Id="rId10" Type="http://schemas.openxmlformats.org/officeDocument/2006/relationships/image" Target="../media/image1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3.png"/><Relationship Id="rId5" Type="http://schemas.openxmlformats.org/officeDocument/2006/relationships/image" Target="../media/image4.sv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jpeg"/></Relationships>
</file>

<file path=ppt/slides/slide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12890536" y="9078297"/>
            <a:ext cx="5540339" cy="4114800"/>
          </a:xfrm>
          <a:custGeom>
            <a:avLst/>
            <a:gdLst/>
            <a:ahLst/>
            <a:cxnLst/>
            <a:rect r="r" b="b" t="t" l="l"/>
            <a:pathLst>
              <a:path h="4114800" w="5540339">
                <a:moveTo>
                  <a:pt x="0" y="0"/>
                </a:moveTo>
                <a:lnTo>
                  <a:pt x="5540339" y="0"/>
                </a:lnTo>
                <a:lnTo>
                  <a:pt x="5540339" y="4114800"/>
                </a:lnTo>
                <a:lnTo>
                  <a:pt x="0" y="4114800"/>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true" flipV="false" rot="0">
            <a:off x="0" y="9078297"/>
            <a:ext cx="5540339" cy="4114800"/>
          </a:xfrm>
          <a:custGeom>
            <a:avLst/>
            <a:gdLst/>
            <a:ahLst/>
            <a:cxnLst/>
            <a:rect r="r" b="b" t="t" l="l"/>
            <a:pathLst>
              <a:path h="4114800" w="5540339">
                <a:moveTo>
                  <a:pt x="5540339" y="0"/>
                </a:moveTo>
                <a:lnTo>
                  <a:pt x="0" y="0"/>
                </a:lnTo>
                <a:lnTo>
                  <a:pt x="0" y="4114800"/>
                </a:lnTo>
                <a:lnTo>
                  <a:pt x="5540339" y="4114800"/>
                </a:lnTo>
                <a:lnTo>
                  <a:pt x="5540339"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4" id="4"/>
          <p:cNvSpPr/>
          <p:nvPr/>
        </p:nvSpPr>
        <p:spPr>
          <a:xfrm flipH="true" flipV="true" rot="0">
            <a:off x="14279580" y="-2839063"/>
            <a:ext cx="5540339" cy="4114800"/>
          </a:xfrm>
          <a:custGeom>
            <a:avLst/>
            <a:gdLst/>
            <a:ahLst/>
            <a:cxnLst/>
            <a:rect r="r" b="b" t="t" l="l"/>
            <a:pathLst>
              <a:path h="4114800" w="5540339">
                <a:moveTo>
                  <a:pt x="5540340" y="4114800"/>
                </a:moveTo>
                <a:lnTo>
                  <a:pt x="0" y="4114800"/>
                </a:lnTo>
                <a:lnTo>
                  <a:pt x="0" y="0"/>
                </a:lnTo>
                <a:lnTo>
                  <a:pt x="5540340" y="0"/>
                </a:lnTo>
                <a:lnTo>
                  <a:pt x="5540340" y="411480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5" id="5"/>
          <p:cNvSpPr/>
          <p:nvPr/>
        </p:nvSpPr>
        <p:spPr>
          <a:xfrm flipH="true" flipV="true" rot="-5282141">
            <a:off x="15660705" y="-2057400"/>
            <a:ext cx="5540339" cy="4114800"/>
          </a:xfrm>
          <a:custGeom>
            <a:avLst/>
            <a:gdLst/>
            <a:ahLst/>
            <a:cxnLst/>
            <a:rect r="r" b="b" t="t" l="l"/>
            <a:pathLst>
              <a:path h="4114800" w="5540339">
                <a:moveTo>
                  <a:pt x="5540340" y="4114800"/>
                </a:moveTo>
                <a:lnTo>
                  <a:pt x="0" y="4114800"/>
                </a:lnTo>
                <a:lnTo>
                  <a:pt x="0" y="0"/>
                </a:lnTo>
                <a:lnTo>
                  <a:pt x="5540340" y="0"/>
                </a:lnTo>
                <a:lnTo>
                  <a:pt x="5540340" y="411480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6" id="6"/>
          <p:cNvSpPr/>
          <p:nvPr/>
        </p:nvSpPr>
        <p:spPr>
          <a:xfrm flipH="false" flipV="true" rot="0">
            <a:off x="-1455720" y="-2839063"/>
            <a:ext cx="5540339" cy="4114800"/>
          </a:xfrm>
          <a:custGeom>
            <a:avLst/>
            <a:gdLst/>
            <a:ahLst/>
            <a:cxnLst/>
            <a:rect r="r" b="b" t="t" l="l"/>
            <a:pathLst>
              <a:path h="4114800" w="5540339">
                <a:moveTo>
                  <a:pt x="0" y="4114800"/>
                </a:moveTo>
                <a:lnTo>
                  <a:pt x="5540340" y="4114800"/>
                </a:lnTo>
                <a:lnTo>
                  <a:pt x="5540340" y="0"/>
                </a:lnTo>
                <a:lnTo>
                  <a:pt x="0" y="0"/>
                </a:lnTo>
                <a:lnTo>
                  <a:pt x="0" y="411480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7" id="7"/>
          <p:cNvSpPr/>
          <p:nvPr/>
        </p:nvSpPr>
        <p:spPr>
          <a:xfrm flipH="true" flipV="false" rot="-5282141">
            <a:off x="-2770170" y="-2057400"/>
            <a:ext cx="5540339" cy="4114800"/>
          </a:xfrm>
          <a:custGeom>
            <a:avLst/>
            <a:gdLst/>
            <a:ahLst/>
            <a:cxnLst/>
            <a:rect r="r" b="b" t="t" l="l"/>
            <a:pathLst>
              <a:path h="4114800" w="5540339">
                <a:moveTo>
                  <a:pt x="5540340" y="0"/>
                </a:moveTo>
                <a:lnTo>
                  <a:pt x="0" y="0"/>
                </a:lnTo>
                <a:lnTo>
                  <a:pt x="0" y="4114800"/>
                </a:lnTo>
                <a:lnTo>
                  <a:pt x="5540340" y="4114800"/>
                </a:lnTo>
                <a:lnTo>
                  <a:pt x="554034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8" id="8"/>
          <p:cNvSpPr txBox="true"/>
          <p:nvPr/>
        </p:nvSpPr>
        <p:spPr>
          <a:xfrm rot="0">
            <a:off x="3377654" y="3346704"/>
            <a:ext cx="8138160" cy="5541264"/>
          </a:xfrm>
          <a:prstGeom prst="rect">
            <a:avLst/>
          </a:prstGeom>
        </p:spPr>
        <p:txBody>
          <a:bodyPr anchor="t" rtlCol="false" tIns="0" lIns="0" bIns="0" rIns="0" wrap="square">
            <a:spAutoFit/>
          </a:bodyPr>
          <a:lstStyle/>
          <a:p>
            <a:pPr algn="l" marL="539749" indent="-269875" lvl="1">
              <a:lnSpc>
                <a:spcPct val="100000"/>
              </a:lnSpc>
              <a:spcBef>
                <a:spcPts val="0"/>
              </a:spcBef>
              <a:spcAft>
                <a:spcPts val="900"/>
              </a:spcAft>
              <a:buFont typeface="Arial"/>
              <a:buChar char="•"/>
            </a:pPr>
            <a:r>
              <a:rPr lang="en-US" sz="2100" b="1">
                <a:solidFill>
                  <a:srgbClr val="000000"/>
                </a:solidFill>
                <a:latin typeface="Aristotelica Pro"/>
                <a:ea typeface="Aristotelica Pro"/>
                <a:cs typeface="Aristotelica Pro"/>
                <a:sym typeface="Aristotelica Pro"/>
              </a:rPr>
              <a:t>Team:  </a:t>
            </a:r>
            <a:r>
              <a:rPr lang="en-US" sz="2100" b="0">
                <a:solidFill>
                  <a:srgbClr val="000000"/>
                </a:solidFill>
                <a:latin typeface="Aristotelica Pro"/>
                <a:ea typeface="Aristotelica Pro"/>
                <a:cs typeface="Aristotelica Pro"/>
                <a:sym typeface="Aristotelica Pro"/>
              </a:rPr>
              <a:t>VNAK - 753</a:t>
            </a:r>
          </a:p>
          <a:p>
            <a:pPr algn="l" marL="539749" indent="-269875" lvl="1">
              <a:lnSpc>
                <a:spcPct val="100000"/>
              </a:lnSpc>
              <a:spcBef>
                <a:spcPts val="0"/>
              </a:spcBef>
              <a:spcAft>
                <a:spcPts val="900"/>
              </a:spcAft>
              <a:buFont typeface="Arial"/>
              <a:buChar char="•"/>
            </a:pPr>
            <a:r>
              <a:rPr lang="en-US" sz="2100" b="1">
                <a:solidFill>
                  <a:srgbClr val="000000"/>
                </a:solidFill>
                <a:latin typeface="Aristotelica Pro"/>
                <a:ea typeface="Aristotelica Pro"/>
                <a:cs typeface="Aristotelica Pro"/>
                <a:sym typeface="Aristotelica Pro"/>
              </a:rPr>
              <a:t>Project:  </a:t>
            </a:r>
            <a:r>
              <a:rPr lang="en-US" sz="2100" b="0">
                <a:solidFill>
                  <a:srgbClr val="000000"/>
                </a:solidFill>
                <a:latin typeface="Aristotelica Pro"/>
                <a:ea typeface="Aristotelica Pro"/>
                <a:cs typeface="Aristotelica Pro"/>
                <a:sym typeface="Aristotelica Pro"/>
              </a:rPr>
              <a:t>ECO-ARB — Compute with the grid.</a:t>
            </a:r>
          </a:p>
          <a:p>
            <a:pPr algn="l" marL="539749" indent="-269875" lvl="1">
              <a:lnSpc>
                <a:spcPct val="100000"/>
              </a:lnSpc>
              <a:spcBef>
                <a:spcPts val="0"/>
              </a:spcBef>
              <a:spcAft>
                <a:spcPts val="900"/>
              </a:spcAft>
              <a:buFont typeface="Arial"/>
              <a:buChar char="•"/>
            </a:pPr>
            <a:r>
              <a:rPr lang="en-US" sz="2100" b="1">
                <a:solidFill>
                  <a:srgbClr val="000000"/>
                </a:solidFill>
                <a:latin typeface="Aristotelica Pro"/>
                <a:ea typeface="Aristotelica Pro"/>
                <a:cs typeface="Aristotelica Pro"/>
                <a:sym typeface="Aristotelica Pro"/>
              </a:rPr>
              <a:t>Track:  </a:t>
            </a:r>
            <a:r>
              <a:rPr lang="en-US" sz="2100" b="0">
                <a:solidFill>
                  <a:srgbClr val="000000"/>
                </a:solidFill>
                <a:latin typeface="Aristotelica Pro"/>
                <a:ea typeface="Aristotelica Pro"/>
                <a:cs typeface="Aristotelica Pro"/>
                <a:sym typeface="Aristotelica Pro"/>
              </a:rPr>
              <a:t>Climate Tech and Resilience</a:t>
            </a:r>
          </a:p>
          <a:p>
            <a:pPr algn="l" marL="539749" indent="-269875" lvl="1">
              <a:lnSpc>
                <a:spcPct val="100000"/>
              </a:lnSpc>
              <a:spcBef>
                <a:spcPts val="0"/>
              </a:spcBef>
              <a:spcAft>
                <a:spcPts val="900"/>
              </a:spcAft>
              <a:buFont typeface="Arial"/>
              <a:buChar char="•"/>
            </a:pPr>
            <a:r>
              <a:rPr lang="en-US" sz="2100" b="1">
                <a:solidFill>
                  <a:srgbClr val="000000"/>
                </a:solidFill>
                <a:latin typeface="Aristotelica Pro"/>
                <a:ea typeface="Aristotelica Pro"/>
                <a:cs typeface="Aristotelica Pro"/>
                <a:sym typeface="Aristotelica Pro"/>
              </a:rPr>
              <a:t>Type:  </a:t>
            </a:r>
            <a:r>
              <a:rPr lang="en-US" sz="2100" b="0">
                <a:solidFill>
                  <a:srgbClr val="000000"/>
                </a:solidFill>
                <a:latin typeface="Aristotelica Pro"/>
                <a:ea typeface="Aristotelica Pro"/>
                <a:cs typeface="Aristotelica Pro"/>
                <a:sym typeface="Aristotelica Pro"/>
              </a:rPr>
              <a:t>Software</a:t>
            </a:r>
          </a:p>
          <a:p>
            <a:pPr algn="l" marL="539749" indent="-269875" lvl="1">
              <a:lnSpc>
                <a:spcPct val="100000"/>
              </a:lnSpc>
              <a:spcBef>
                <a:spcPts val="0"/>
              </a:spcBef>
              <a:spcAft>
                <a:spcPts val="900"/>
              </a:spcAft>
              <a:buFont typeface="Arial"/>
              <a:buChar char="•"/>
            </a:pPr>
            <a:r>
              <a:rPr lang="en-US" sz="2100" b="0">
                <a:solidFill>
                  <a:srgbClr val="000000"/>
                </a:solidFill>
                <a:latin typeface="Aristotelica Pro"/>
                <a:ea typeface="Aristotelica Pro"/>
                <a:cs typeface="Aristotelica Pro"/>
                <a:sym typeface="Aristotelica Pro"/>
              </a:rPr>
              <a:t>A carbon-aware scheduler that moves deferrable compute to the cleanest half-hour the grid will offer before your deadline — and proves the work actually ran.</a:t>
            </a:r>
          </a:p>
          <a:p>
            <a:pPr algn="l" marL="539749" indent="-269875" lvl="1">
              <a:lnSpc>
                <a:spcPct val="100000"/>
              </a:lnSpc>
              <a:spcBef>
                <a:spcPts val="0"/>
              </a:spcBef>
              <a:spcAft>
                <a:spcPts val="900"/>
              </a:spcAft>
              <a:buFont typeface="Arial"/>
              <a:buChar char="•"/>
            </a:pPr>
            <a:r>
              <a:rPr lang="en-US" sz="2100" b="1">
                <a:solidFill>
                  <a:srgbClr val="000000"/>
                </a:solidFill>
                <a:latin typeface="Aristotelica Pro"/>
                <a:ea typeface="Aristotelica Pro"/>
                <a:cs typeface="Aristotelica Pro"/>
                <a:sym typeface="Aristotelica Pro"/>
              </a:rPr>
              <a:t>Team Members:  </a:t>
            </a:r>
            <a:r>
              <a:rPr lang="en-US" sz="2100" b="0">
                <a:solidFill>
                  <a:srgbClr val="000000"/>
                </a:solidFill>
                <a:latin typeface="Aristotelica Pro"/>
                <a:ea typeface="Aristotelica Pro"/>
                <a:cs typeface="Aristotelica Pro"/>
                <a:sym typeface="Aristotelica Pro"/>
              </a:rPr>
              <a:t>S Krishiykeishav  |  Vaishnav Chandra Kumar  |  Anuwin Saravanan  |  Navinraj A</a:t>
            </a:r>
          </a:p>
          <a:p>
            <a:pPr algn="ctr">
              <a:lnSpc>
                <a:spcPts val="3499"/>
              </a:lnSpc>
            </a:pPr>
          </a:p>
        </p:txBody>
      </p:sp>
      <p:sp>
        <p:nvSpPr>
          <p:cNvPr name="TextBox 9" id="9"/>
          <p:cNvSpPr txBox="true"/>
          <p:nvPr/>
        </p:nvSpPr>
        <p:spPr>
          <a:xfrm rot="0">
            <a:off x="3377654" y="2240280"/>
            <a:ext cx="8229600" cy="960120"/>
          </a:xfrm>
          <a:prstGeom prst="rect">
            <a:avLst/>
          </a:prstGeom>
        </p:spPr>
        <p:txBody>
          <a:bodyPr anchor="t" rtlCol="false" tIns="0" lIns="0" bIns="0" rIns="0" wrap="square">
            <a:spAutoFit/>
          </a:bodyPr>
          <a:lstStyle/>
          <a:p>
            <a:pPr algn="l">
              <a:lnSpc>
                <a:spcPts val="8400"/>
              </a:lnSpc>
            </a:pPr>
            <a:r>
              <a:rPr lang="en-US" b="true" sz="6600">
                <a:solidFill>
                  <a:srgbClr val="000000"/>
                </a:solidFill>
                <a:latin typeface="Aristotelica Pro Bold"/>
                <a:ea typeface="Aristotelica Pro Bold"/>
                <a:cs typeface="Aristotelica Pro Bold"/>
                <a:sym typeface="Aristotelica Pro Bold"/>
              </a:rPr>
              <a:t>ECO-ARB</a:t>
            </a:r>
          </a:p>
        </p:txBody>
      </p:sp>
      <p:sp>
        <p:nvSpPr>
          <p:cNvPr name="Freeform 10" id="10"/>
          <p:cNvSpPr/>
          <p:nvPr/>
        </p:nvSpPr>
        <p:spPr>
          <a:xfrm flipH="false" flipV="false" rot="0">
            <a:off x="1648815" y="1492060"/>
            <a:ext cx="2435805" cy="657704"/>
          </a:xfrm>
          <a:custGeom>
            <a:avLst/>
            <a:gdLst/>
            <a:ahLst/>
            <a:cxnLst/>
            <a:rect r="r" b="b" t="t" l="l"/>
            <a:pathLst>
              <a:path h="657704" w="2435805">
                <a:moveTo>
                  <a:pt x="0" y="0"/>
                </a:moveTo>
                <a:lnTo>
                  <a:pt x="2435805" y="0"/>
                </a:lnTo>
                <a:lnTo>
                  <a:pt x="2435805" y="657704"/>
                </a:lnTo>
                <a:lnTo>
                  <a:pt x="0" y="657704"/>
                </a:lnTo>
                <a:lnTo>
                  <a:pt x="0" y="0"/>
                </a:lnTo>
                <a:close/>
              </a:path>
            </a:pathLst>
          </a:custGeom>
          <a:blipFill>
            <a:blip r:embed="rId6"/>
            <a:stretch>
              <a:fillRect l="-694" t="-655" r="0" b="-655"/>
            </a:stretch>
          </a:blipFill>
        </p:spPr>
      </p:sp>
      <p:sp>
        <p:nvSpPr>
          <p:cNvPr name="Freeform 11" id="11"/>
          <p:cNvSpPr/>
          <p:nvPr/>
        </p:nvSpPr>
        <p:spPr>
          <a:xfrm flipH="false" flipV="false" rot="0">
            <a:off x="14279580" y="1492060"/>
            <a:ext cx="2326125" cy="741604"/>
          </a:xfrm>
          <a:custGeom>
            <a:avLst/>
            <a:gdLst/>
            <a:ahLst/>
            <a:cxnLst/>
            <a:rect r="r" b="b" t="t" l="l"/>
            <a:pathLst>
              <a:path h="741604" w="2326125">
                <a:moveTo>
                  <a:pt x="0" y="0"/>
                </a:moveTo>
                <a:lnTo>
                  <a:pt x="2326126" y="0"/>
                </a:lnTo>
                <a:lnTo>
                  <a:pt x="2326126" y="741604"/>
                </a:lnTo>
                <a:lnTo>
                  <a:pt x="0" y="741604"/>
                </a:lnTo>
                <a:lnTo>
                  <a:pt x="0" y="0"/>
                </a:lnTo>
                <a:close/>
              </a:path>
            </a:pathLst>
          </a:custGeom>
          <a:blipFill>
            <a:blip r:embed="rId7"/>
            <a:stretch>
              <a:fillRect l="0" t="0" r="0" b="0"/>
            </a:stretch>
          </a:blipFill>
        </p:spPr>
      </p:sp>
      <p:sp>
        <p:nvSpPr>
          <p:cNvPr name="Freeform 12" id="12"/>
          <p:cNvSpPr/>
          <p:nvPr/>
        </p:nvSpPr>
        <p:spPr>
          <a:xfrm flipH="false" flipV="false" rot="0">
            <a:off x="6853577" y="185376"/>
            <a:ext cx="4580845" cy="1306684"/>
          </a:xfrm>
          <a:custGeom>
            <a:avLst/>
            <a:gdLst/>
            <a:ahLst/>
            <a:cxnLst/>
            <a:rect r="r" b="b" t="t" l="l"/>
            <a:pathLst>
              <a:path h="1306684" w="4580845">
                <a:moveTo>
                  <a:pt x="0" y="0"/>
                </a:moveTo>
                <a:lnTo>
                  <a:pt x="4580846" y="0"/>
                </a:lnTo>
                <a:lnTo>
                  <a:pt x="4580846" y="1306684"/>
                </a:lnTo>
                <a:lnTo>
                  <a:pt x="0" y="1306684"/>
                </a:lnTo>
                <a:lnTo>
                  <a:pt x="0" y="0"/>
                </a:lnTo>
                <a:close/>
              </a:path>
            </a:pathLst>
          </a:custGeom>
          <a:blipFill>
            <a:blip r:embed="rId8"/>
            <a:stretch>
              <a:fillRect l="0" t="0" r="0" b="0"/>
            </a:stretch>
          </a:blipFill>
        </p:spPr>
      </p:sp>
      <p:pic>
        <p:nvPicPr>
          <p:cNvPr id="13" name="Picture 12" descr="crop-overview.png"/>
          <p:cNvPicPr>
            <a:picLocks noChangeAspect="1"/>
          </p:cNvPicPr>
          <p:nvPr/>
        </p:nvPicPr>
        <p:blipFill>
          <a:blip r:embed="rId9"/>
          <a:stretch>
            <a:fillRect/>
          </a:stretch>
        </p:blipFill>
        <p:spPr>
          <a:xfrm>
            <a:off x="11155680" y="3346704"/>
            <a:ext cx="6309360" cy="4608576"/>
          </a:xfrm>
          <a:prstGeom prst="rect">
            <a:avLst/>
          </a:prstGeom>
        </p:spPr>
      </p:pic>
    </p:spTree>
  </p:cSld>
  <p:clrMapOvr>
    <a:masterClrMapping/>
  </p:clrMapOvr>
</p:sld>
</file>

<file path=ppt/slides/slide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12890536" y="9078297"/>
            <a:ext cx="5540339" cy="4114800"/>
          </a:xfrm>
          <a:custGeom>
            <a:avLst/>
            <a:gdLst/>
            <a:ahLst/>
            <a:cxnLst/>
            <a:rect r="r" b="b" t="t" l="l"/>
            <a:pathLst>
              <a:path h="4114800" w="5540339">
                <a:moveTo>
                  <a:pt x="0" y="0"/>
                </a:moveTo>
                <a:lnTo>
                  <a:pt x="5540339" y="0"/>
                </a:lnTo>
                <a:lnTo>
                  <a:pt x="5540339" y="4114800"/>
                </a:lnTo>
                <a:lnTo>
                  <a:pt x="0" y="4114800"/>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true" flipV="false" rot="0">
            <a:off x="0" y="9078297"/>
            <a:ext cx="5540339" cy="4114800"/>
          </a:xfrm>
          <a:custGeom>
            <a:avLst/>
            <a:gdLst/>
            <a:ahLst/>
            <a:cxnLst/>
            <a:rect r="r" b="b" t="t" l="l"/>
            <a:pathLst>
              <a:path h="4114800" w="5540339">
                <a:moveTo>
                  <a:pt x="5540339" y="0"/>
                </a:moveTo>
                <a:lnTo>
                  <a:pt x="0" y="0"/>
                </a:lnTo>
                <a:lnTo>
                  <a:pt x="0" y="4114800"/>
                </a:lnTo>
                <a:lnTo>
                  <a:pt x="5540339" y="4114800"/>
                </a:lnTo>
                <a:lnTo>
                  <a:pt x="5540339"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4" id="4"/>
          <p:cNvSpPr/>
          <p:nvPr/>
        </p:nvSpPr>
        <p:spPr>
          <a:xfrm flipH="true" flipV="true" rot="0">
            <a:off x="14279580" y="-2839063"/>
            <a:ext cx="5540339" cy="4114800"/>
          </a:xfrm>
          <a:custGeom>
            <a:avLst/>
            <a:gdLst/>
            <a:ahLst/>
            <a:cxnLst/>
            <a:rect r="r" b="b" t="t" l="l"/>
            <a:pathLst>
              <a:path h="4114800" w="5540339">
                <a:moveTo>
                  <a:pt x="5540340" y="4114800"/>
                </a:moveTo>
                <a:lnTo>
                  <a:pt x="0" y="4114800"/>
                </a:lnTo>
                <a:lnTo>
                  <a:pt x="0" y="0"/>
                </a:lnTo>
                <a:lnTo>
                  <a:pt x="5540340" y="0"/>
                </a:lnTo>
                <a:lnTo>
                  <a:pt x="5540340" y="411480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5" id="5"/>
          <p:cNvSpPr/>
          <p:nvPr/>
        </p:nvSpPr>
        <p:spPr>
          <a:xfrm flipH="true" flipV="true" rot="-5282141">
            <a:off x="15660705" y="-2057400"/>
            <a:ext cx="5540339" cy="4114800"/>
          </a:xfrm>
          <a:custGeom>
            <a:avLst/>
            <a:gdLst/>
            <a:ahLst/>
            <a:cxnLst/>
            <a:rect r="r" b="b" t="t" l="l"/>
            <a:pathLst>
              <a:path h="4114800" w="5540339">
                <a:moveTo>
                  <a:pt x="5540340" y="4114800"/>
                </a:moveTo>
                <a:lnTo>
                  <a:pt x="0" y="4114800"/>
                </a:lnTo>
                <a:lnTo>
                  <a:pt x="0" y="0"/>
                </a:lnTo>
                <a:lnTo>
                  <a:pt x="5540340" y="0"/>
                </a:lnTo>
                <a:lnTo>
                  <a:pt x="5540340" y="411480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6" id="6"/>
          <p:cNvSpPr/>
          <p:nvPr/>
        </p:nvSpPr>
        <p:spPr>
          <a:xfrm flipH="false" flipV="true" rot="0">
            <a:off x="-1455720" y="-2839063"/>
            <a:ext cx="5540339" cy="4114800"/>
          </a:xfrm>
          <a:custGeom>
            <a:avLst/>
            <a:gdLst/>
            <a:ahLst/>
            <a:cxnLst/>
            <a:rect r="r" b="b" t="t" l="l"/>
            <a:pathLst>
              <a:path h="4114800" w="5540339">
                <a:moveTo>
                  <a:pt x="0" y="4114800"/>
                </a:moveTo>
                <a:lnTo>
                  <a:pt x="5540340" y="4114800"/>
                </a:lnTo>
                <a:lnTo>
                  <a:pt x="5540340" y="0"/>
                </a:lnTo>
                <a:lnTo>
                  <a:pt x="0" y="0"/>
                </a:lnTo>
                <a:lnTo>
                  <a:pt x="0" y="411480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7" id="7"/>
          <p:cNvSpPr/>
          <p:nvPr/>
        </p:nvSpPr>
        <p:spPr>
          <a:xfrm flipH="true" flipV="false" rot="-5282141">
            <a:off x="-2770170" y="-2057400"/>
            <a:ext cx="5540339" cy="4114800"/>
          </a:xfrm>
          <a:custGeom>
            <a:avLst/>
            <a:gdLst/>
            <a:ahLst/>
            <a:cxnLst/>
            <a:rect r="r" b="b" t="t" l="l"/>
            <a:pathLst>
              <a:path h="4114800" w="5540339">
                <a:moveTo>
                  <a:pt x="5540340" y="0"/>
                </a:moveTo>
                <a:lnTo>
                  <a:pt x="0" y="0"/>
                </a:lnTo>
                <a:lnTo>
                  <a:pt x="0" y="4114800"/>
                </a:lnTo>
                <a:lnTo>
                  <a:pt x="5540340" y="4114800"/>
                </a:lnTo>
                <a:lnTo>
                  <a:pt x="554034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8" id="8"/>
          <p:cNvSpPr txBox="true"/>
          <p:nvPr/>
        </p:nvSpPr>
        <p:spPr>
          <a:xfrm rot="0">
            <a:off x="3536285" y="3346704"/>
            <a:ext cx="13560552" cy="5541264"/>
          </a:xfrm>
          <a:prstGeom prst="rect">
            <a:avLst/>
          </a:prstGeom>
        </p:spPr>
        <p:txBody>
          <a:bodyPr anchor="t" rtlCol="false" tIns="0" lIns="0" bIns="0" rIns="0" wrap="square">
            <a:spAutoFit/>
          </a:bodyPr>
          <a:lstStyle/>
          <a:p>
            <a:pPr algn="l" marL="539749" indent="-269875" lvl="1">
              <a:lnSpc>
                <a:spcPct val="100000"/>
              </a:lnSpc>
              <a:spcBef>
                <a:spcPts val="0"/>
              </a:spcBef>
              <a:spcAft>
                <a:spcPts val="900"/>
              </a:spcAft>
              <a:buFont typeface="Arial"/>
              <a:buChar char="•"/>
            </a:pPr>
            <a:r>
              <a:rPr lang="en-US" sz="1700" b="1">
                <a:solidFill>
                  <a:srgbClr val="000000"/>
                </a:solidFill>
                <a:latin typeface="Aristotelica Pro"/>
                <a:ea typeface="Aristotelica Pro"/>
                <a:cs typeface="Aristotelica Pro"/>
                <a:sym typeface="Aristotelica Pro"/>
              </a:rPr>
              <a:t>The core issue.  </a:t>
            </a:r>
            <a:r>
              <a:rPr lang="en-US" sz="1700" b="0">
                <a:solidFill>
                  <a:srgbClr val="000000"/>
                </a:solidFill>
                <a:latin typeface="Aristotelica Pro"/>
                <a:ea typeface="Aristotelica Pro"/>
                <a:cs typeface="Aristotelica Pro"/>
                <a:sym typeface="Aristotelica Pro"/>
              </a:rPr>
              <a:t>Deferrable compute runs the instant it is submitted, on whatever electricity is in the wires. UK grid carbon intensity swings between roughly 60 and 350 gCO₂/kWh in a single day — so identical work emits four to five times more or less, for one reason only: when it started.</a:t>
            </a:r>
          </a:p>
          <a:p>
            <a:pPr algn="l" marL="539749" indent="-269875" lvl="1">
              <a:lnSpc>
                <a:spcPct val="100000"/>
              </a:lnSpc>
              <a:spcBef>
                <a:spcPts val="0"/>
              </a:spcBef>
              <a:spcAft>
                <a:spcPts val="900"/>
              </a:spcAft>
              <a:buFont typeface="Arial"/>
              <a:buChar char="•"/>
            </a:pPr>
            <a:r>
              <a:rPr lang="en-US" sz="1700" b="1">
                <a:solidFill>
                  <a:srgbClr val="000000"/>
                </a:solidFill>
                <a:latin typeface="Aristotelica Pro"/>
                <a:ea typeface="Aristotelica Pro"/>
                <a:cs typeface="Aristotelica Pro"/>
                <a:sym typeface="Aristotelica Pro"/>
              </a:rPr>
              <a:t>Who experiences it.  </a:t>
            </a:r>
            <a:r>
              <a:rPr lang="en-US" sz="1700" b="0">
                <a:solidFill>
                  <a:srgbClr val="000000"/>
                </a:solidFill>
                <a:latin typeface="Aristotelica Pro"/>
                <a:ea typeface="Aristotelica Pro"/>
                <a:cs typeface="Aristotelica Pro"/>
                <a:sym typeface="Aristotelica Pro"/>
              </a:rPr>
              <a:t>Platform, DevOps and research-computing teams running nightly builds, CI pipelines, model training, backups and simulation sweeps — plus cloud operators under emissions-reporting obligations.</a:t>
            </a:r>
          </a:p>
          <a:p>
            <a:pPr algn="l" marL="539749" indent="-269875" lvl="1">
              <a:lnSpc>
                <a:spcPct val="100000"/>
              </a:lnSpc>
              <a:spcBef>
                <a:spcPts val="0"/>
              </a:spcBef>
              <a:spcAft>
                <a:spcPts val="900"/>
              </a:spcAft>
              <a:buFont typeface="Arial"/>
              <a:buChar char="•"/>
            </a:pPr>
            <a:r>
              <a:rPr lang="en-US" sz="1700" b="1">
                <a:solidFill>
                  <a:srgbClr val="000000"/>
                </a:solidFill>
                <a:latin typeface="Aristotelica Pro"/>
                <a:ea typeface="Aristotelica Pro"/>
                <a:cs typeface="Aristotelica Pro"/>
                <a:sym typeface="Aristotelica Pro"/>
              </a:rPr>
              <a:t>When and where.  </a:t>
            </a:r>
            <a:r>
              <a:rPr lang="en-US" sz="1700" b="0">
                <a:solidFill>
                  <a:srgbClr val="000000"/>
                </a:solidFill>
                <a:latin typeface="Aristotelica Pro"/>
                <a:ea typeface="Aristotelica Pro"/>
                <a:cs typeface="Aristotelica Pro"/>
                <a:sym typeface="Aristotelica Pro"/>
              </a:rPr>
              <a:t>Any workload with a deadline rather than a start time. Nobody cares when the nightly build runs, only that it is done by morning — yet it is dispatched immediately, often straight into the evening carbon peak.</a:t>
            </a:r>
          </a:p>
          <a:p>
            <a:pPr algn="l" marL="539749" indent="-269875" lvl="1">
              <a:lnSpc>
                <a:spcPct val="100000"/>
              </a:lnSpc>
              <a:spcBef>
                <a:spcPts val="0"/>
              </a:spcBef>
              <a:spcAft>
                <a:spcPts val="900"/>
              </a:spcAft>
              <a:buFont typeface="Arial"/>
              <a:buChar char="•"/>
            </a:pPr>
            <a:r>
              <a:rPr lang="en-US" sz="1700" b="1">
                <a:solidFill>
                  <a:srgbClr val="000000"/>
                </a:solidFill>
                <a:latin typeface="Aristotelica Pro"/>
                <a:ea typeface="Aristotelica Pro"/>
                <a:cs typeface="Aristotelica Pro"/>
                <a:sym typeface="Aristotelica Pro"/>
              </a:rPr>
              <a:t>What current solutions miss.  </a:t>
            </a:r>
            <a:r>
              <a:rPr lang="en-US" sz="1700" b="0">
                <a:solidFill>
                  <a:srgbClr val="000000"/>
                </a:solidFill>
                <a:latin typeface="Aristotelica Pro"/>
                <a:ea typeface="Aristotelica Pro"/>
                <a:cs typeface="Aristotelica Pro"/>
                <a:sym typeface="Aristotelica Pro"/>
              </a:rPr>
              <a:t>Schedulers optimise latency, queue depth and cost; none optimise carbon. Dashboards report emissions after the fact instead of acting. The carbon-aware tools that exist shift jobs between regions, needing infrastructure most teams do not have.</a:t>
            </a:r>
          </a:p>
          <a:p>
            <a:pPr algn="l" marL="539749" indent="-269875" lvl="1">
              <a:lnSpc>
                <a:spcPct val="100000"/>
              </a:lnSpc>
              <a:spcBef>
                <a:spcPts val="0"/>
              </a:spcBef>
              <a:spcAft>
                <a:spcPts val="900"/>
              </a:spcAft>
              <a:buFont typeface="Arial"/>
              <a:buChar char="•"/>
            </a:pPr>
            <a:r>
              <a:rPr lang="en-US" sz="1700" b="1">
                <a:solidFill>
                  <a:srgbClr val="000000"/>
                </a:solidFill>
                <a:latin typeface="Aristotelica Pro"/>
                <a:ea typeface="Aristotelica Pro"/>
                <a:cs typeface="Aristotelica Pro"/>
                <a:sym typeface="Aristotelica Pro"/>
              </a:rPr>
              <a:t>Theme alignment.  </a:t>
            </a:r>
            <a:r>
              <a:rPr lang="en-US" sz="1700" b="0">
                <a:solidFill>
                  <a:srgbClr val="000000"/>
                </a:solidFill>
                <a:latin typeface="Aristotelica Pro"/>
                <a:ea typeface="Aristotelica Pro"/>
                <a:cs typeface="Aristotelica Pro"/>
                <a:sym typeface="Aristotelica Pro"/>
              </a:rPr>
              <a:t>Climate Tech and Resilience — it cuts real emissions with no new hardware and no change to the job, while pulling flexible demand toward renewable surplus, which is what a resilient grid needs.</a:t>
            </a:r>
          </a:p>
          <a:p>
            <a:pPr algn="ctr">
              <a:lnSpc>
                <a:spcPts val="3499"/>
              </a:lnSpc>
            </a:pPr>
          </a:p>
          <a:p>
            <a:pPr algn="ctr">
              <a:lnSpc>
                <a:spcPts val="3499"/>
              </a:lnSpc>
            </a:pPr>
          </a:p>
        </p:txBody>
      </p:sp>
      <p:sp>
        <p:nvSpPr>
          <p:cNvPr name="TextBox 9" id="9"/>
          <p:cNvSpPr txBox="true"/>
          <p:nvPr/>
        </p:nvSpPr>
        <p:spPr>
          <a:xfrm rot="0">
            <a:off x="3536285" y="2240280"/>
            <a:ext cx="10972800" cy="960120"/>
          </a:xfrm>
          <a:prstGeom prst="rect">
            <a:avLst/>
          </a:prstGeom>
        </p:spPr>
        <p:txBody>
          <a:bodyPr anchor="t" rtlCol="false" tIns="0" lIns="0" bIns="0" rIns="0" wrap="square">
            <a:spAutoFit/>
          </a:bodyPr>
          <a:lstStyle/>
          <a:p>
            <a:pPr algn="l">
              <a:lnSpc>
                <a:spcPts val="8400"/>
              </a:lnSpc>
            </a:pPr>
            <a:r>
              <a:rPr lang="en-US" b="true" sz="5400">
                <a:solidFill>
                  <a:srgbClr val="000000"/>
                </a:solidFill>
                <a:latin typeface="Aristotelica Pro Bold"/>
                <a:ea typeface="Aristotelica Pro Bold"/>
                <a:cs typeface="Aristotelica Pro Bold"/>
                <a:sym typeface="Aristotelica Pro Bold"/>
              </a:rPr>
              <a:t>THE PROBLEM</a:t>
            </a:r>
          </a:p>
        </p:txBody>
      </p:sp>
      <p:sp>
        <p:nvSpPr>
          <p:cNvPr name="Freeform 10" id="10"/>
          <p:cNvSpPr/>
          <p:nvPr/>
        </p:nvSpPr>
        <p:spPr>
          <a:xfrm flipH="false" flipV="false" rot="0">
            <a:off x="1648815" y="1492060"/>
            <a:ext cx="2435805" cy="657704"/>
          </a:xfrm>
          <a:custGeom>
            <a:avLst/>
            <a:gdLst/>
            <a:ahLst/>
            <a:cxnLst/>
            <a:rect r="r" b="b" t="t" l="l"/>
            <a:pathLst>
              <a:path h="657704" w="2435805">
                <a:moveTo>
                  <a:pt x="0" y="0"/>
                </a:moveTo>
                <a:lnTo>
                  <a:pt x="2435805" y="0"/>
                </a:lnTo>
                <a:lnTo>
                  <a:pt x="2435805" y="657704"/>
                </a:lnTo>
                <a:lnTo>
                  <a:pt x="0" y="657704"/>
                </a:lnTo>
                <a:lnTo>
                  <a:pt x="0" y="0"/>
                </a:lnTo>
                <a:close/>
              </a:path>
            </a:pathLst>
          </a:custGeom>
          <a:blipFill>
            <a:blip r:embed="rId6"/>
            <a:stretch>
              <a:fillRect l="-694" t="-655" r="0" b="-655"/>
            </a:stretch>
          </a:blipFill>
        </p:spPr>
      </p:sp>
      <p:sp>
        <p:nvSpPr>
          <p:cNvPr name="Freeform 11" id="11"/>
          <p:cNvSpPr/>
          <p:nvPr/>
        </p:nvSpPr>
        <p:spPr>
          <a:xfrm flipH="false" flipV="false" rot="0">
            <a:off x="14279580" y="1492060"/>
            <a:ext cx="2326125" cy="741604"/>
          </a:xfrm>
          <a:custGeom>
            <a:avLst/>
            <a:gdLst/>
            <a:ahLst/>
            <a:cxnLst/>
            <a:rect r="r" b="b" t="t" l="l"/>
            <a:pathLst>
              <a:path h="741604" w="2326125">
                <a:moveTo>
                  <a:pt x="0" y="0"/>
                </a:moveTo>
                <a:lnTo>
                  <a:pt x="2326126" y="0"/>
                </a:lnTo>
                <a:lnTo>
                  <a:pt x="2326126" y="741604"/>
                </a:lnTo>
                <a:lnTo>
                  <a:pt x="0" y="741604"/>
                </a:lnTo>
                <a:lnTo>
                  <a:pt x="0" y="0"/>
                </a:lnTo>
                <a:close/>
              </a:path>
            </a:pathLst>
          </a:custGeom>
          <a:blipFill>
            <a:blip r:embed="rId7"/>
            <a:stretch>
              <a:fillRect l="0" t="0" r="0" b="0"/>
            </a:stretch>
          </a:blipFill>
        </p:spPr>
      </p:sp>
      <p:sp>
        <p:nvSpPr>
          <p:cNvPr name="Freeform 12" id="12"/>
          <p:cNvSpPr/>
          <p:nvPr/>
        </p:nvSpPr>
        <p:spPr>
          <a:xfrm flipH="false" flipV="false" rot="0">
            <a:off x="6853577" y="185376"/>
            <a:ext cx="4580845" cy="1306684"/>
          </a:xfrm>
          <a:custGeom>
            <a:avLst/>
            <a:gdLst/>
            <a:ahLst/>
            <a:cxnLst/>
            <a:rect r="r" b="b" t="t" l="l"/>
            <a:pathLst>
              <a:path h="1306684" w="4580845">
                <a:moveTo>
                  <a:pt x="0" y="0"/>
                </a:moveTo>
                <a:lnTo>
                  <a:pt x="4580846" y="0"/>
                </a:lnTo>
                <a:lnTo>
                  <a:pt x="4580846" y="1306684"/>
                </a:lnTo>
                <a:lnTo>
                  <a:pt x="0" y="1306684"/>
                </a:lnTo>
                <a:lnTo>
                  <a:pt x="0" y="0"/>
                </a:lnTo>
                <a:close/>
              </a:path>
            </a:pathLst>
          </a:custGeom>
          <a:blipFill>
            <a:blip r:embed="rId8"/>
            <a:stretch>
              <a:fillRect l="0" t="0" r="0" b="0"/>
            </a:stretch>
          </a:blipFill>
        </p:spPr>
      </p:sp>
    </p:spTree>
  </p:cSld>
  <p:clrMapOvr>
    <a:masterClrMapping/>
  </p:clrMapOvr>
</p:sld>
</file>

<file path=ppt/slides/slide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12890536" y="9078297"/>
            <a:ext cx="5540339" cy="4114800"/>
          </a:xfrm>
          <a:custGeom>
            <a:avLst/>
            <a:gdLst/>
            <a:ahLst/>
            <a:cxnLst/>
            <a:rect r="r" b="b" t="t" l="l"/>
            <a:pathLst>
              <a:path h="4114800" w="5540339">
                <a:moveTo>
                  <a:pt x="0" y="0"/>
                </a:moveTo>
                <a:lnTo>
                  <a:pt x="5540339" y="0"/>
                </a:lnTo>
                <a:lnTo>
                  <a:pt x="5540339" y="4114800"/>
                </a:lnTo>
                <a:lnTo>
                  <a:pt x="0" y="4114800"/>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true" flipV="false" rot="0">
            <a:off x="0" y="9078297"/>
            <a:ext cx="5540339" cy="4114800"/>
          </a:xfrm>
          <a:custGeom>
            <a:avLst/>
            <a:gdLst/>
            <a:ahLst/>
            <a:cxnLst/>
            <a:rect r="r" b="b" t="t" l="l"/>
            <a:pathLst>
              <a:path h="4114800" w="5540339">
                <a:moveTo>
                  <a:pt x="5540339" y="0"/>
                </a:moveTo>
                <a:lnTo>
                  <a:pt x="0" y="0"/>
                </a:lnTo>
                <a:lnTo>
                  <a:pt x="0" y="4114800"/>
                </a:lnTo>
                <a:lnTo>
                  <a:pt x="5540339" y="4114800"/>
                </a:lnTo>
                <a:lnTo>
                  <a:pt x="5540339"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4" id="4"/>
          <p:cNvSpPr/>
          <p:nvPr/>
        </p:nvSpPr>
        <p:spPr>
          <a:xfrm flipH="true" flipV="true" rot="0">
            <a:off x="14279580" y="-2839063"/>
            <a:ext cx="5540339" cy="4114800"/>
          </a:xfrm>
          <a:custGeom>
            <a:avLst/>
            <a:gdLst/>
            <a:ahLst/>
            <a:cxnLst/>
            <a:rect r="r" b="b" t="t" l="l"/>
            <a:pathLst>
              <a:path h="4114800" w="5540339">
                <a:moveTo>
                  <a:pt x="5540340" y="4114800"/>
                </a:moveTo>
                <a:lnTo>
                  <a:pt x="0" y="4114800"/>
                </a:lnTo>
                <a:lnTo>
                  <a:pt x="0" y="0"/>
                </a:lnTo>
                <a:lnTo>
                  <a:pt x="5540340" y="0"/>
                </a:lnTo>
                <a:lnTo>
                  <a:pt x="5540340" y="411480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5" id="5"/>
          <p:cNvSpPr/>
          <p:nvPr/>
        </p:nvSpPr>
        <p:spPr>
          <a:xfrm flipH="true" flipV="true" rot="-5282141">
            <a:off x="15660705" y="-2057400"/>
            <a:ext cx="5540339" cy="4114800"/>
          </a:xfrm>
          <a:custGeom>
            <a:avLst/>
            <a:gdLst/>
            <a:ahLst/>
            <a:cxnLst/>
            <a:rect r="r" b="b" t="t" l="l"/>
            <a:pathLst>
              <a:path h="4114800" w="5540339">
                <a:moveTo>
                  <a:pt x="5540340" y="4114800"/>
                </a:moveTo>
                <a:lnTo>
                  <a:pt x="0" y="4114800"/>
                </a:lnTo>
                <a:lnTo>
                  <a:pt x="0" y="0"/>
                </a:lnTo>
                <a:lnTo>
                  <a:pt x="5540340" y="0"/>
                </a:lnTo>
                <a:lnTo>
                  <a:pt x="5540340" y="411480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6" id="6"/>
          <p:cNvSpPr/>
          <p:nvPr/>
        </p:nvSpPr>
        <p:spPr>
          <a:xfrm flipH="false" flipV="true" rot="0">
            <a:off x="-1455720" y="-2839063"/>
            <a:ext cx="5540339" cy="4114800"/>
          </a:xfrm>
          <a:custGeom>
            <a:avLst/>
            <a:gdLst/>
            <a:ahLst/>
            <a:cxnLst/>
            <a:rect r="r" b="b" t="t" l="l"/>
            <a:pathLst>
              <a:path h="4114800" w="5540339">
                <a:moveTo>
                  <a:pt x="0" y="4114800"/>
                </a:moveTo>
                <a:lnTo>
                  <a:pt x="5540340" y="4114800"/>
                </a:lnTo>
                <a:lnTo>
                  <a:pt x="5540340" y="0"/>
                </a:lnTo>
                <a:lnTo>
                  <a:pt x="0" y="0"/>
                </a:lnTo>
                <a:lnTo>
                  <a:pt x="0" y="411480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7" id="7"/>
          <p:cNvSpPr/>
          <p:nvPr/>
        </p:nvSpPr>
        <p:spPr>
          <a:xfrm flipH="true" flipV="false" rot="-5282141">
            <a:off x="-2770170" y="-2057400"/>
            <a:ext cx="5540339" cy="4114800"/>
          </a:xfrm>
          <a:custGeom>
            <a:avLst/>
            <a:gdLst/>
            <a:ahLst/>
            <a:cxnLst/>
            <a:rect r="r" b="b" t="t" l="l"/>
            <a:pathLst>
              <a:path h="4114800" w="5540339">
                <a:moveTo>
                  <a:pt x="5540340" y="0"/>
                </a:moveTo>
                <a:lnTo>
                  <a:pt x="0" y="0"/>
                </a:lnTo>
                <a:lnTo>
                  <a:pt x="0" y="4114800"/>
                </a:lnTo>
                <a:lnTo>
                  <a:pt x="5540340" y="4114800"/>
                </a:lnTo>
                <a:lnTo>
                  <a:pt x="554034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8" id="8"/>
          <p:cNvSpPr txBox="true"/>
          <p:nvPr/>
        </p:nvSpPr>
        <p:spPr>
          <a:xfrm rot="0">
            <a:off x="3456097" y="3346704"/>
            <a:ext cx="13560552" cy="5541264"/>
          </a:xfrm>
          <a:prstGeom prst="rect">
            <a:avLst/>
          </a:prstGeom>
        </p:spPr>
        <p:txBody>
          <a:bodyPr anchor="t" rtlCol="false" tIns="0" lIns="0" bIns="0" rIns="0" wrap="square">
            <a:spAutoFit/>
          </a:bodyPr>
          <a:lstStyle/>
          <a:p>
            <a:pPr algn="l" marL="539749" indent="-269875" lvl="1">
              <a:lnSpc>
                <a:spcPct val="100000"/>
              </a:lnSpc>
              <a:spcBef>
                <a:spcPts val="0"/>
              </a:spcBef>
              <a:spcAft>
                <a:spcPts val="900"/>
              </a:spcAft>
              <a:buFont typeface="Arial"/>
              <a:buChar char="•"/>
            </a:pPr>
            <a:r>
              <a:rPr lang="en-US" sz="1700" b="1">
                <a:solidFill>
                  <a:srgbClr val="000000"/>
                </a:solidFill>
                <a:latin typeface="Aristotelica Pro"/>
                <a:ea typeface="Aristotelica Pro"/>
                <a:cs typeface="Aristotelica Pro"/>
                <a:sym typeface="Aristotelica Pro"/>
              </a:rPr>
              <a:t>What we are building.  </a:t>
            </a:r>
            <a:r>
              <a:rPr lang="en-US" sz="1700" b="0">
                <a:solidFill>
                  <a:srgbClr val="000000"/>
                </a:solidFill>
                <a:latin typeface="Aristotelica Pro"/>
                <a:ea typeface="Aristotelica Pro"/>
                <a:cs typeface="Aristotelica Pro"/>
                <a:sym typeface="Aristotelica Pro"/>
              </a:rPr>
              <a:t>A carbon-aware compute scheduler. You give it a job, an energy budget and a deadline; it decides when that job runs, holds it until then, and executes it for real.</a:t>
            </a:r>
          </a:p>
          <a:p>
            <a:pPr algn="l" marL="539749" indent="-269875" lvl="1">
              <a:lnSpc>
                <a:spcPct val="100000"/>
              </a:lnSpc>
              <a:spcBef>
                <a:spcPts val="0"/>
              </a:spcBef>
              <a:spcAft>
                <a:spcPts val="900"/>
              </a:spcAft>
              <a:buFont typeface="Arial"/>
              <a:buChar char="•"/>
            </a:pPr>
            <a:r>
              <a:rPr lang="en-US" sz="1700" b="1">
                <a:solidFill>
                  <a:srgbClr val="000000"/>
                </a:solidFill>
                <a:latin typeface="Aristotelica Pro"/>
                <a:ea typeface="Aristotelica Pro"/>
                <a:cs typeface="Aristotelica Pro"/>
                <a:sym typeface="Aristotelica Pro"/>
              </a:rPr>
              <a:t>The approach.  </a:t>
            </a:r>
            <a:r>
              <a:rPr lang="en-US" sz="1700" b="0">
                <a:solidFill>
                  <a:srgbClr val="000000"/>
                </a:solidFill>
                <a:latin typeface="Aristotelica Pro"/>
                <a:ea typeface="Aristotelica Pro"/>
                <a:cs typeface="Aristotelica Pro"/>
                <a:sym typeface="Aristotelica Pro"/>
              </a:rPr>
              <a:t>Treat the deadline as the only hard constraint and the start time as free. Carbon over a fixed-width window is piecewise-linear in start time, so the minimum always falls on a breakpoint — where either end of the window crosses a forecast slot edge. That set is finite, so we enumerate it exhaustively instead of sampling.</a:t>
            </a:r>
          </a:p>
          <a:p>
            <a:pPr algn="l" marL="539749" indent="-269875" lvl="1">
              <a:lnSpc>
                <a:spcPct val="100000"/>
              </a:lnSpc>
              <a:spcBef>
                <a:spcPts val="0"/>
              </a:spcBef>
              <a:spcAft>
                <a:spcPts val="900"/>
              </a:spcAft>
              <a:buFont typeface="Arial"/>
              <a:buChar char="•"/>
            </a:pPr>
            <a:r>
              <a:rPr lang="en-US" sz="1700" b="1">
                <a:solidFill>
                  <a:srgbClr val="000000"/>
                </a:solidFill>
                <a:latin typeface="Aristotelica Pro"/>
                <a:ea typeface="Aristotelica Pro"/>
                <a:cs typeface="Aristotelica Pro"/>
                <a:sym typeface="Aristotelica Pro"/>
              </a:rPr>
              <a:t>Core capabilities.  </a:t>
            </a:r>
            <a:r>
              <a:rPr lang="en-US" sz="1700" b="0">
                <a:solidFill>
                  <a:srgbClr val="000000"/>
                </a:solidFill>
                <a:latin typeface="Aristotelica Pro"/>
                <a:ea typeface="Aristotelica Pro"/>
                <a:cs typeface="Aristotelica Pro"/>
                <a:sym typeface="Aristotelica Pro"/>
              </a:rPr>
              <a:t>Live National Grid forecast with provenance per slot; provably optimal window search; real execution with a chained SHA-256 receipt; continuous re-planning; non-mutating preview; labelled time compression.</a:t>
            </a:r>
          </a:p>
          <a:p>
            <a:pPr algn="l" marL="539749" indent="-269875" lvl="1">
              <a:lnSpc>
                <a:spcPct val="100000"/>
              </a:lnSpc>
              <a:spcBef>
                <a:spcPts val="0"/>
              </a:spcBef>
              <a:spcAft>
                <a:spcPts val="900"/>
              </a:spcAft>
              <a:buFont typeface="Arial"/>
              <a:buChar char="•"/>
            </a:pPr>
            <a:r>
              <a:rPr lang="en-US" sz="1700" b="1">
                <a:solidFill>
                  <a:srgbClr val="000000"/>
                </a:solidFill>
                <a:latin typeface="Aristotelica Pro"/>
                <a:ea typeface="Aristotelica Pro"/>
                <a:cs typeface="Aristotelica Pro"/>
                <a:sym typeface="Aristotelica Pro"/>
              </a:rPr>
              <a:t>Value to the user.  </a:t>
            </a:r>
            <a:r>
              <a:rPr lang="en-US" sz="1700" b="0">
                <a:solidFill>
                  <a:srgbClr val="000000"/>
                </a:solidFill>
                <a:latin typeface="Aristotelica Pro"/>
                <a:ea typeface="Aristotelica Pro"/>
                <a:cs typeface="Aristotelica Pro"/>
                <a:sym typeface="Aristotelica Pro"/>
              </a:rPr>
              <a:t>Same work, same deadline, same output — up to 44% less CO₂, with no hardware change and no edit to the job. Deadlines are never missed: a job with no room to defer simply runs now.</a:t>
            </a:r>
          </a:p>
          <a:p>
            <a:pPr algn="l" marL="539749" indent="-269875" lvl="1">
              <a:lnSpc>
                <a:spcPct val="100000"/>
              </a:lnSpc>
              <a:spcBef>
                <a:spcPts val="0"/>
              </a:spcBef>
              <a:spcAft>
                <a:spcPts val="900"/>
              </a:spcAft>
              <a:buFont typeface="Arial"/>
              <a:buChar char="•"/>
            </a:pPr>
            <a:r>
              <a:rPr lang="en-US" sz="1700" b="1">
                <a:solidFill>
                  <a:srgbClr val="000000"/>
                </a:solidFill>
                <a:latin typeface="Aristotelica Pro"/>
                <a:ea typeface="Aristotelica Pro"/>
                <a:cs typeface="Aristotelica Pro"/>
                <a:sym typeface="Aristotelica Pro"/>
              </a:rPr>
              <a:t>Flow.  </a:t>
            </a:r>
            <a:r>
              <a:rPr lang="en-US" sz="1700" b="0">
                <a:solidFill>
                  <a:srgbClr val="000000"/>
                </a:solidFill>
                <a:latin typeface="Aristotelica Pro"/>
                <a:ea typeface="Aristotelica Pro"/>
                <a:cs typeface="Aristotelica Pro"/>
                <a:sym typeface="Aristotelica Pro"/>
              </a:rPr>
              <a:t>Submit → fetch 24h forecast → enumerate candidate windows → score carbon → RUN or WAIT → dispatch at the chosen time → execute → verify receipt.</a:t>
            </a:r>
          </a:p>
          <a:p>
            <a:pPr algn="ctr">
              <a:lnSpc>
                <a:spcPts val="3499"/>
              </a:lnSpc>
            </a:pPr>
          </a:p>
        </p:txBody>
      </p:sp>
      <p:sp>
        <p:nvSpPr>
          <p:cNvPr name="TextBox 9" id="9"/>
          <p:cNvSpPr txBox="true"/>
          <p:nvPr/>
        </p:nvSpPr>
        <p:spPr>
          <a:xfrm rot="0">
            <a:off x="3456097" y="2240280"/>
            <a:ext cx="10972800" cy="960120"/>
          </a:xfrm>
          <a:prstGeom prst="rect">
            <a:avLst/>
          </a:prstGeom>
        </p:spPr>
        <p:txBody>
          <a:bodyPr anchor="t" rtlCol="false" tIns="0" lIns="0" bIns="0" rIns="0" wrap="square">
            <a:spAutoFit/>
          </a:bodyPr>
          <a:lstStyle/>
          <a:p>
            <a:pPr algn="l">
              <a:lnSpc>
                <a:spcPts val="8400"/>
              </a:lnSpc>
            </a:pPr>
            <a:r>
              <a:rPr lang="en-US" b="true" sz="5400">
                <a:solidFill>
                  <a:srgbClr val="000000"/>
                </a:solidFill>
                <a:latin typeface="Aristotelica Pro Bold"/>
                <a:ea typeface="Aristotelica Pro Bold"/>
                <a:cs typeface="Aristotelica Pro Bold"/>
                <a:sym typeface="Aristotelica Pro Bold"/>
              </a:rPr>
              <a:t>THE SOLUTION</a:t>
            </a:r>
          </a:p>
        </p:txBody>
      </p:sp>
      <p:sp>
        <p:nvSpPr>
          <p:cNvPr name="Freeform 10" id="10"/>
          <p:cNvSpPr/>
          <p:nvPr/>
        </p:nvSpPr>
        <p:spPr>
          <a:xfrm flipH="false" flipV="false" rot="0">
            <a:off x="1648815" y="1492060"/>
            <a:ext cx="2435805" cy="657704"/>
          </a:xfrm>
          <a:custGeom>
            <a:avLst/>
            <a:gdLst/>
            <a:ahLst/>
            <a:cxnLst/>
            <a:rect r="r" b="b" t="t" l="l"/>
            <a:pathLst>
              <a:path h="657704" w="2435805">
                <a:moveTo>
                  <a:pt x="0" y="0"/>
                </a:moveTo>
                <a:lnTo>
                  <a:pt x="2435805" y="0"/>
                </a:lnTo>
                <a:lnTo>
                  <a:pt x="2435805" y="657704"/>
                </a:lnTo>
                <a:lnTo>
                  <a:pt x="0" y="657704"/>
                </a:lnTo>
                <a:lnTo>
                  <a:pt x="0" y="0"/>
                </a:lnTo>
                <a:close/>
              </a:path>
            </a:pathLst>
          </a:custGeom>
          <a:blipFill>
            <a:blip r:embed="rId6"/>
            <a:stretch>
              <a:fillRect l="-694" t="-655" r="0" b="-655"/>
            </a:stretch>
          </a:blipFill>
        </p:spPr>
      </p:sp>
      <p:sp>
        <p:nvSpPr>
          <p:cNvPr name="Freeform 11" id="11"/>
          <p:cNvSpPr/>
          <p:nvPr/>
        </p:nvSpPr>
        <p:spPr>
          <a:xfrm flipH="false" flipV="false" rot="0">
            <a:off x="14279580" y="1492060"/>
            <a:ext cx="2326125" cy="741604"/>
          </a:xfrm>
          <a:custGeom>
            <a:avLst/>
            <a:gdLst/>
            <a:ahLst/>
            <a:cxnLst/>
            <a:rect r="r" b="b" t="t" l="l"/>
            <a:pathLst>
              <a:path h="741604" w="2326125">
                <a:moveTo>
                  <a:pt x="0" y="0"/>
                </a:moveTo>
                <a:lnTo>
                  <a:pt x="2326126" y="0"/>
                </a:lnTo>
                <a:lnTo>
                  <a:pt x="2326126" y="741604"/>
                </a:lnTo>
                <a:lnTo>
                  <a:pt x="0" y="741604"/>
                </a:lnTo>
                <a:lnTo>
                  <a:pt x="0" y="0"/>
                </a:lnTo>
                <a:close/>
              </a:path>
            </a:pathLst>
          </a:custGeom>
          <a:blipFill>
            <a:blip r:embed="rId7"/>
            <a:stretch>
              <a:fillRect l="0" t="0" r="0" b="0"/>
            </a:stretch>
          </a:blipFill>
        </p:spPr>
      </p:sp>
      <p:sp>
        <p:nvSpPr>
          <p:cNvPr name="Freeform 12" id="12"/>
          <p:cNvSpPr/>
          <p:nvPr/>
        </p:nvSpPr>
        <p:spPr>
          <a:xfrm flipH="false" flipV="false" rot="0">
            <a:off x="6853577" y="185376"/>
            <a:ext cx="4580845" cy="1306684"/>
          </a:xfrm>
          <a:custGeom>
            <a:avLst/>
            <a:gdLst/>
            <a:ahLst/>
            <a:cxnLst/>
            <a:rect r="r" b="b" t="t" l="l"/>
            <a:pathLst>
              <a:path h="1306684" w="4580845">
                <a:moveTo>
                  <a:pt x="0" y="0"/>
                </a:moveTo>
                <a:lnTo>
                  <a:pt x="4580846" y="0"/>
                </a:lnTo>
                <a:lnTo>
                  <a:pt x="4580846" y="1306684"/>
                </a:lnTo>
                <a:lnTo>
                  <a:pt x="0" y="1306684"/>
                </a:lnTo>
                <a:lnTo>
                  <a:pt x="0" y="0"/>
                </a:lnTo>
                <a:close/>
              </a:path>
            </a:pathLst>
          </a:custGeom>
          <a:blipFill>
            <a:blip r:embed="rId8"/>
            <a:stretch>
              <a:fillRect l="0" t="0" r="0" b="0"/>
            </a:stretch>
          </a:blipFill>
        </p:spPr>
      </p:sp>
    </p:spTree>
  </p:cSld>
  <p:clrMapOvr>
    <a:masterClrMapping/>
  </p:clrMapOvr>
</p:sld>
</file>

<file path=ppt/slides/slide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12890536" y="9078297"/>
            <a:ext cx="5540339" cy="4114800"/>
          </a:xfrm>
          <a:custGeom>
            <a:avLst/>
            <a:gdLst/>
            <a:ahLst/>
            <a:cxnLst/>
            <a:rect r="r" b="b" t="t" l="l"/>
            <a:pathLst>
              <a:path h="4114800" w="5540339">
                <a:moveTo>
                  <a:pt x="0" y="0"/>
                </a:moveTo>
                <a:lnTo>
                  <a:pt x="5540339" y="0"/>
                </a:lnTo>
                <a:lnTo>
                  <a:pt x="5540339" y="4114800"/>
                </a:lnTo>
                <a:lnTo>
                  <a:pt x="0" y="4114800"/>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true" flipV="false" rot="0">
            <a:off x="0" y="9078297"/>
            <a:ext cx="5540339" cy="4114800"/>
          </a:xfrm>
          <a:custGeom>
            <a:avLst/>
            <a:gdLst/>
            <a:ahLst/>
            <a:cxnLst/>
            <a:rect r="r" b="b" t="t" l="l"/>
            <a:pathLst>
              <a:path h="4114800" w="5540339">
                <a:moveTo>
                  <a:pt x="5540339" y="0"/>
                </a:moveTo>
                <a:lnTo>
                  <a:pt x="0" y="0"/>
                </a:lnTo>
                <a:lnTo>
                  <a:pt x="0" y="4114800"/>
                </a:lnTo>
                <a:lnTo>
                  <a:pt x="5540339" y="4114800"/>
                </a:lnTo>
                <a:lnTo>
                  <a:pt x="5540339"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4" id="4"/>
          <p:cNvSpPr/>
          <p:nvPr/>
        </p:nvSpPr>
        <p:spPr>
          <a:xfrm flipH="true" flipV="true" rot="0">
            <a:off x="14279580" y="-2839063"/>
            <a:ext cx="5540339" cy="4114800"/>
          </a:xfrm>
          <a:custGeom>
            <a:avLst/>
            <a:gdLst/>
            <a:ahLst/>
            <a:cxnLst/>
            <a:rect r="r" b="b" t="t" l="l"/>
            <a:pathLst>
              <a:path h="4114800" w="5540339">
                <a:moveTo>
                  <a:pt x="5540340" y="4114800"/>
                </a:moveTo>
                <a:lnTo>
                  <a:pt x="0" y="4114800"/>
                </a:lnTo>
                <a:lnTo>
                  <a:pt x="0" y="0"/>
                </a:lnTo>
                <a:lnTo>
                  <a:pt x="5540340" y="0"/>
                </a:lnTo>
                <a:lnTo>
                  <a:pt x="5540340" y="411480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5" id="5"/>
          <p:cNvSpPr/>
          <p:nvPr/>
        </p:nvSpPr>
        <p:spPr>
          <a:xfrm flipH="true" flipV="true" rot="-5282141">
            <a:off x="15660705" y="-2057400"/>
            <a:ext cx="5540339" cy="4114800"/>
          </a:xfrm>
          <a:custGeom>
            <a:avLst/>
            <a:gdLst/>
            <a:ahLst/>
            <a:cxnLst/>
            <a:rect r="r" b="b" t="t" l="l"/>
            <a:pathLst>
              <a:path h="4114800" w="5540339">
                <a:moveTo>
                  <a:pt x="5540340" y="4114800"/>
                </a:moveTo>
                <a:lnTo>
                  <a:pt x="0" y="4114800"/>
                </a:lnTo>
                <a:lnTo>
                  <a:pt x="0" y="0"/>
                </a:lnTo>
                <a:lnTo>
                  <a:pt x="5540340" y="0"/>
                </a:lnTo>
                <a:lnTo>
                  <a:pt x="5540340" y="411480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6" id="6"/>
          <p:cNvSpPr/>
          <p:nvPr/>
        </p:nvSpPr>
        <p:spPr>
          <a:xfrm flipH="false" flipV="true" rot="0">
            <a:off x="-1455720" y="-2839063"/>
            <a:ext cx="5540339" cy="4114800"/>
          </a:xfrm>
          <a:custGeom>
            <a:avLst/>
            <a:gdLst/>
            <a:ahLst/>
            <a:cxnLst/>
            <a:rect r="r" b="b" t="t" l="l"/>
            <a:pathLst>
              <a:path h="4114800" w="5540339">
                <a:moveTo>
                  <a:pt x="0" y="4114800"/>
                </a:moveTo>
                <a:lnTo>
                  <a:pt x="5540340" y="4114800"/>
                </a:lnTo>
                <a:lnTo>
                  <a:pt x="5540340" y="0"/>
                </a:lnTo>
                <a:lnTo>
                  <a:pt x="0" y="0"/>
                </a:lnTo>
                <a:lnTo>
                  <a:pt x="0" y="411480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7" id="7"/>
          <p:cNvSpPr/>
          <p:nvPr/>
        </p:nvSpPr>
        <p:spPr>
          <a:xfrm flipH="true" flipV="false" rot="-5282141">
            <a:off x="-2770170" y="-2057400"/>
            <a:ext cx="5540339" cy="4114800"/>
          </a:xfrm>
          <a:custGeom>
            <a:avLst/>
            <a:gdLst/>
            <a:ahLst/>
            <a:cxnLst/>
            <a:rect r="r" b="b" t="t" l="l"/>
            <a:pathLst>
              <a:path h="4114800" w="5540339">
                <a:moveTo>
                  <a:pt x="5540340" y="0"/>
                </a:moveTo>
                <a:lnTo>
                  <a:pt x="0" y="0"/>
                </a:lnTo>
                <a:lnTo>
                  <a:pt x="0" y="4114800"/>
                </a:lnTo>
                <a:lnTo>
                  <a:pt x="5540340" y="4114800"/>
                </a:lnTo>
                <a:lnTo>
                  <a:pt x="554034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8" id="8"/>
          <p:cNvSpPr txBox="true"/>
          <p:nvPr/>
        </p:nvSpPr>
        <p:spPr>
          <a:xfrm rot="0">
            <a:off x="3045483" y="2240280"/>
            <a:ext cx="10972800" cy="960120"/>
          </a:xfrm>
          <a:prstGeom prst="rect">
            <a:avLst/>
          </a:prstGeom>
        </p:spPr>
        <p:txBody>
          <a:bodyPr anchor="t" rtlCol="false" tIns="0" lIns="0" bIns="0" rIns="0" wrap="square">
            <a:spAutoFit/>
          </a:bodyPr>
          <a:lstStyle/>
          <a:p>
            <a:pPr algn="l">
              <a:lnSpc>
                <a:spcPts val="8400"/>
              </a:lnSpc>
            </a:pPr>
            <a:r>
              <a:rPr lang="en-US" b="true" sz="5400">
                <a:solidFill>
                  <a:srgbClr val="000000"/>
                </a:solidFill>
                <a:latin typeface="Aristotelica Pro Bold"/>
                <a:ea typeface="Aristotelica Pro Bold"/>
                <a:cs typeface="Aristotelica Pro Bold"/>
                <a:sym typeface="Aristotelica Pro Bold"/>
              </a:rPr>
              <a:t>USER EXPERIENCE</a:t>
            </a:r>
          </a:p>
        </p:txBody>
      </p:sp>
      <p:sp>
        <p:nvSpPr>
          <p:cNvPr name="Freeform 9" id="9"/>
          <p:cNvSpPr/>
          <p:nvPr/>
        </p:nvSpPr>
        <p:spPr>
          <a:xfrm flipH="false" flipV="false" rot="0">
            <a:off x="1648815" y="1492060"/>
            <a:ext cx="2435805" cy="657704"/>
          </a:xfrm>
          <a:custGeom>
            <a:avLst/>
            <a:gdLst/>
            <a:ahLst/>
            <a:cxnLst/>
            <a:rect r="r" b="b" t="t" l="l"/>
            <a:pathLst>
              <a:path h="657704" w="2435805">
                <a:moveTo>
                  <a:pt x="0" y="0"/>
                </a:moveTo>
                <a:lnTo>
                  <a:pt x="2435805" y="0"/>
                </a:lnTo>
                <a:lnTo>
                  <a:pt x="2435805" y="657704"/>
                </a:lnTo>
                <a:lnTo>
                  <a:pt x="0" y="657704"/>
                </a:lnTo>
                <a:lnTo>
                  <a:pt x="0" y="0"/>
                </a:lnTo>
                <a:close/>
              </a:path>
            </a:pathLst>
          </a:custGeom>
          <a:blipFill>
            <a:blip r:embed="rId6"/>
            <a:stretch>
              <a:fillRect l="-694" t="-655" r="0" b="-655"/>
            </a:stretch>
          </a:blipFill>
        </p:spPr>
      </p:sp>
      <p:sp>
        <p:nvSpPr>
          <p:cNvPr name="Freeform 10" id="10"/>
          <p:cNvSpPr/>
          <p:nvPr/>
        </p:nvSpPr>
        <p:spPr>
          <a:xfrm flipH="false" flipV="false" rot="0">
            <a:off x="14279580" y="1492060"/>
            <a:ext cx="2326125" cy="741604"/>
          </a:xfrm>
          <a:custGeom>
            <a:avLst/>
            <a:gdLst/>
            <a:ahLst/>
            <a:cxnLst/>
            <a:rect r="r" b="b" t="t" l="l"/>
            <a:pathLst>
              <a:path h="741604" w="2326125">
                <a:moveTo>
                  <a:pt x="0" y="0"/>
                </a:moveTo>
                <a:lnTo>
                  <a:pt x="2326126" y="0"/>
                </a:lnTo>
                <a:lnTo>
                  <a:pt x="2326126" y="741604"/>
                </a:lnTo>
                <a:lnTo>
                  <a:pt x="0" y="741604"/>
                </a:lnTo>
                <a:lnTo>
                  <a:pt x="0" y="0"/>
                </a:lnTo>
                <a:close/>
              </a:path>
            </a:pathLst>
          </a:custGeom>
          <a:blipFill>
            <a:blip r:embed="rId7"/>
            <a:stretch>
              <a:fillRect l="0" t="0" r="0" b="0"/>
            </a:stretch>
          </a:blipFill>
        </p:spPr>
      </p:sp>
      <p:sp>
        <p:nvSpPr>
          <p:cNvPr name="Freeform 11" id="11"/>
          <p:cNvSpPr/>
          <p:nvPr/>
        </p:nvSpPr>
        <p:spPr>
          <a:xfrm flipH="false" flipV="false" rot="0">
            <a:off x="6853577" y="185376"/>
            <a:ext cx="4580845" cy="1306684"/>
          </a:xfrm>
          <a:custGeom>
            <a:avLst/>
            <a:gdLst/>
            <a:ahLst/>
            <a:cxnLst/>
            <a:rect r="r" b="b" t="t" l="l"/>
            <a:pathLst>
              <a:path h="1306684" w="4580845">
                <a:moveTo>
                  <a:pt x="0" y="0"/>
                </a:moveTo>
                <a:lnTo>
                  <a:pt x="4580846" y="0"/>
                </a:lnTo>
                <a:lnTo>
                  <a:pt x="4580846" y="1306684"/>
                </a:lnTo>
                <a:lnTo>
                  <a:pt x="0" y="1306684"/>
                </a:lnTo>
                <a:lnTo>
                  <a:pt x="0" y="0"/>
                </a:lnTo>
                <a:close/>
              </a:path>
            </a:pathLst>
          </a:custGeom>
          <a:blipFill>
            <a:blip r:embed="rId8"/>
            <a:stretch>
              <a:fillRect l="0" t="0" r="0" b="0"/>
            </a:stretch>
          </a:blipFill>
        </p:spPr>
      </p:sp>
      <p:sp>
        <p:nvSpPr>
          <p:cNvPr name="TextBox 12" id="12"/>
          <p:cNvSpPr txBox="true"/>
          <p:nvPr/>
        </p:nvSpPr>
        <p:spPr>
          <a:xfrm rot="0">
            <a:off x="2866717" y="3346704"/>
            <a:ext cx="8503920" cy="5541264"/>
          </a:xfrm>
          <a:prstGeom prst="rect">
            <a:avLst/>
          </a:prstGeom>
        </p:spPr>
        <p:txBody>
          <a:bodyPr anchor="t" rtlCol="false" tIns="0" lIns="0" bIns="0" rIns="0" wrap="square">
            <a:spAutoFit/>
          </a:bodyPr>
          <a:lstStyle/>
          <a:p>
            <a:pPr algn="l" marL="539749" indent="-269875" lvl="1">
              <a:lnSpc>
                <a:spcPct val="100000"/>
              </a:lnSpc>
              <a:spcBef>
                <a:spcPts val="0"/>
              </a:spcBef>
              <a:spcAft>
                <a:spcPts val="900"/>
              </a:spcAft>
              <a:buFont typeface="Arial"/>
              <a:buChar char="•"/>
            </a:pPr>
            <a:r>
              <a:rPr lang="en-US" sz="1600" b="1">
                <a:solidFill>
                  <a:srgbClr val="000000"/>
                </a:solidFill>
                <a:latin typeface="Aristotelica Pro"/>
                <a:ea typeface="Aristotelica Pro"/>
                <a:cs typeface="Aristotelica Pro"/>
                <a:sym typeface="Aristotelica Pro"/>
              </a:rPr>
              <a:t>The journey.  </a:t>
            </a:r>
            <a:r>
              <a:rPr lang="en-US" sz="1600" b="0">
                <a:solidFill>
                  <a:srgbClr val="000000"/>
                </a:solidFill>
                <a:latin typeface="Aristotelica Pro"/>
                <a:ea typeface="Aristotelica Pro"/>
                <a:cs typeface="Aristotelica Pro"/>
                <a:sym typeface="Aristotelica Pro"/>
              </a:rPr>
              <a:t>Entry — New workload: name, energy budget, duration, deadline. Interaction — Preview scores the job and shows the chosen window before anything is queued. Outcome — the job runs at that time and produces a verifiable receipt.</a:t>
            </a:r>
          </a:p>
          <a:p>
            <a:pPr algn="l" marL="539749" indent="-269875" lvl="1">
              <a:lnSpc>
                <a:spcPct val="100000"/>
              </a:lnSpc>
              <a:spcBef>
                <a:spcPts val="0"/>
              </a:spcBef>
              <a:spcAft>
                <a:spcPts val="900"/>
              </a:spcAft>
              <a:buFont typeface="Arial"/>
              <a:buChar char="•"/>
            </a:pPr>
            <a:r>
              <a:rPr lang="en-US" sz="1600" b="1">
                <a:solidFill>
                  <a:srgbClr val="000000"/>
                </a:solidFill>
                <a:latin typeface="Aristotelica Pro"/>
                <a:ea typeface="Aristotelica Pro"/>
                <a:cs typeface="Aristotelica Pro"/>
                <a:sym typeface="Aristotelica Pro"/>
              </a:rPr>
              <a:t>Key decision points.  </a:t>
            </a:r>
            <a:r>
              <a:rPr lang="en-US" sz="1600" b="0">
                <a:solidFill>
                  <a:srgbClr val="000000"/>
                </a:solidFill>
                <a:latin typeface="Aristotelica Pro"/>
                <a:ea typeface="Aristotelica Pro"/>
                <a:cs typeface="Aristotelica Pro"/>
                <a:sym typeface="Aristotelica Pro"/>
              </a:rPr>
              <a:t>Preview versus submit; accept the RUN or WAIT decision; cancel a deferred job; change clock speed to replay a full day. The engine re-decides every tick, so a queued job moves if the forecast improves.</a:t>
            </a:r>
          </a:p>
          <a:p>
            <a:pPr algn="l" marL="539749" indent="-269875" lvl="1">
              <a:lnSpc>
                <a:spcPct val="100000"/>
              </a:lnSpc>
              <a:spcBef>
                <a:spcPts val="0"/>
              </a:spcBef>
              <a:spcAft>
                <a:spcPts val="900"/>
              </a:spcAft>
              <a:buFont typeface="Arial"/>
              <a:buChar char="•"/>
            </a:pPr>
            <a:r>
              <a:rPr lang="en-US" sz="1600" b="1">
                <a:solidFill>
                  <a:srgbClr val="000000"/>
                </a:solidFill>
                <a:latin typeface="Aristotelica Pro"/>
                <a:ea typeface="Aristotelica Pro"/>
                <a:cs typeface="Aristotelica Pro"/>
                <a:sym typeface="Aristotelica Pro"/>
              </a:rPr>
              <a:t>Design decisions.  </a:t>
            </a:r>
            <a:r>
              <a:rPr lang="en-US" sz="1600" b="0">
                <a:solidFill>
                  <a:srgbClr val="000000"/>
                </a:solidFill>
                <a:latin typeface="Aristotelica Pro"/>
                <a:ea typeface="Aristotelica Pro"/>
                <a:cs typeface="Aristotelica Pro"/>
                <a:sym typeface="Aristotelica Pro"/>
              </a:rPr>
              <a:t>Every figure carries its provenance — real, derived or modelled — on screen. Every decision ships a plain-English reason. Preview never mutates the queue. Time compression is labelled at all times and never speeds up the workload itself. ARIA labels throughout; CI fails on any mobile overflow or runtime error.</a:t>
            </a:r>
          </a:p>
          <a:p>
            <a:pPr algn="l" marL="539749" indent="-269875" lvl="1">
              <a:lnSpc>
                <a:spcPct val="100000"/>
              </a:lnSpc>
              <a:spcBef>
                <a:spcPts val="0"/>
              </a:spcBef>
              <a:spcAft>
                <a:spcPts val="900"/>
              </a:spcAft>
              <a:buFont typeface="Arial"/>
              <a:buChar char="•"/>
            </a:pPr>
            <a:r>
              <a:rPr lang="en-US" sz="1600" b="1">
                <a:solidFill>
                  <a:srgbClr val="000000"/>
                </a:solidFill>
                <a:latin typeface="Aristotelica Pro"/>
                <a:ea typeface="Aristotelica Pro"/>
                <a:cs typeface="Aristotelica Pro"/>
                <a:sym typeface="Aristotelica Pro"/>
              </a:rPr>
              <a:t>Screenshot.  </a:t>
            </a:r>
            <a:r>
              <a:rPr lang="en-US" sz="1600" b="0">
                <a:solidFill>
                  <a:srgbClr val="000000"/>
                </a:solidFill>
                <a:latin typeface="Aristotelica Pro"/>
                <a:ea typeface="Aristotelica Pro"/>
                <a:cs typeface="Aristotelica Pro"/>
                <a:sym typeface="Aristotelica Pro"/>
              </a:rPr>
              <a:t>The live workload queue — four deferred jobs with their chosen execution windows and estimated reductions.</a:t>
            </a:r>
          </a:p>
          <a:p>
            <a:pPr algn="ctr">
              <a:lnSpc>
                <a:spcPts val="3499"/>
              </a:lnSpc>
            </a:pPr>
          </a:p>
        </p:txBody>
      </p:sp>
      <p:pic>
        <p:nvPicPr>
          <p:cNvPr id="13" name="Picture 12" descr="crop-workloads.png"/>
          <p:cNvPicPr>
            <a:picLocks noChangeAspect="1"/>
          </p:cNvPicPr>
          <p:nvPr/>
        </p:nvPicPr>
        <p:blipFill>
          <a:blip r:embed="rId9"/>
          <a:stretch>
            <a:fillRect/>
          </a:stretch>
        </p:blipFill>
        <p:spPr>
          <a:xfrm>
            <a:off x="12070080" y="3346704"/>
            <a:ext cx="5349240" cy="3913632"/>
          </a:xfrm>
          <a:prstGeom prst="rect">
            <a:avLst/>
          </a:prstGeom>
        </p:spPr>
      </p:pic>
    </p:spTree>
  </p:cSld>
  <p:clrMapOvr>
    <a:masterClrMapping/>
  </p:clrMapOvr>
</p:sld>
</file>

<file path=ppt/slides/slide5.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12890536" y="9078297"/>
            <a:ext cx="5540339" cy="4114800"/>
          </a:xfrm>
          <a:custGeom>
            <a:avLst/>
            <a:gdLst/>
            <a:ahLst/>
            <a:cxnLst/>
            <a:rect r="r" b="b" t="t" l="l"/>
            <a:pathLst>
              <a:path h="4114800" w="5540339">
                <a:moveTo>
                  <a:pt x="0" y="0"/>
                </a:moveTo>
                <a:lnTo>
                  <a:pt x="5540339" y="0"/>
                </a:lnTo>
                <a:lnTo>
                  <a:pt x="5540339" y="4114800"/>
                </a:lnTo>
                <a:lnTo>
                  <a:pt x="0" y="4114800"/>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true" flipV="false" rot="0">
            <a:off x="0" y="9078297"/>
            <a:ext cx="5540339" cy="4114800"/>
          </a:xfrm>
          <a:custGeom>
            <a:avLst/>
            <a:gdLst/>
            <a:ahLst/>
            <a:cxnLst/>
            <a:rect r="r" b="b" t="t" l="l"/>
            <a:pathLst>
              <a:path h="4114800" w="5540339">
                <a:moveTo>
                  <a:pt x="5540339" y="0"/>
                </a:moveTo>
                <a:lnTo>
                  <a:pt x="0" y="0"/>
                </a:lnTo>
                <a:lnTo>
                  <a:pt x="0" y="4114800"/>
                </a:lnTo>
                <a:lnTo>
                  <a:pt x="5540339" y="4114800"/>
                </a:lnTo>
                <a:lnTo>
                  <a:pt x="5540339"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4" id="4"/>
          <p:cNvSpPr/>
          <p:nvPr/>
        </p:nvSpPr>
        <p:spPr>
          <a:xfrm flipH="true" flipV="true" rot="0">
            <a:off x="14279580" y="-2839063"/>
            <a:ext cx="5540339" cy="4114800"/>
          </a:xfrm>
          <a:custGeom>
            <a:avLst/>
            <a:gdLst/>
            <a:ahLst/>
            <a:cxnLst/>
            <a:rect r="r" b="b" t="t" l="l"/>
            <a:pathLst>
              <a:path h="4114800" w="5540339">
                <a:moveTo>
                  <a:pt x="5540340" y="4114800"/>
                </a:moveTo>
                <a:lnTo>
                  <a:pt x="0" y="4114800"/>
                </a:lnTo>
                <a:lnTo>
                  <a:pt x="0" y="0"/>
                </a:lnTo>
                <a:lnTo>
                  <a:pt x="5540340" y="0"/>
                </a:lnTo>
                <a:lnTo>
                  <a:pt x="5540340" y="411480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5" id="5"/>
          <p:cNvSpPr/>
          <p:nvPr/>
        </p:nvSpPr>
        <p:spPr>
          <a:xfrm flipH="true" flipV="true" rot="-5282141">
            <a:off x="15660705" y="-2057400"/>
            <a:ext cx="5540339" cy="4114800"/>
          </a:xfrm>
          <a:custGeom>
            <a:avLst/>
            <a:gdLst/>
            <a:ahLst/>
            <a:cxnLst/>
            <a:rect r="r" b="b" t="t" l="l"/>
            <a:pathLst>
              <a:path h="4114800" w="5540339">
                <a:moveTo>
                  <a:pt x="5540340" y="4114800"/>
                </a:moveTo>
                <a:lnTo>
                  <a:pt x="0" y="4114800"/>
                </a:lnTo>
                <a:lnTo>
                  <a:pt x="0" y="0"/>
                </a:lnTo>
                <a:lnTo>
                  <a:pt x="5540340" y="0"/>
                </a:lnTo>
                <a:lnTo>
                  <a:pt x="5540340" y="411480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6" id="6"/>
          <p:cNvSpPr/>
          <p:nvPr/>
        </p:nvSpPr>
        <p:spPr>
          <a:xfrm flipH="false" flipV="true" rot="0">
            <a:off x="-1455720" y="-2839063"/>
            <a:ext cx="5540339" cy="4114800"/>
          </a:xfrm>
          <a:custGeom>
            <a:avLst/>
            <a:gdLst/>
            <a:ahLst/>
            <a:cxnLst/>
            <a:rect r="r" b="b" t="t" l="l"/>
            <a:pathLst>
              <a:path h="4114800" w="5540339">
                <a:moveTo>
                  <a:pt x="0" y="4114800"/>
                </a:moveTo>
                <a:lnTo>
                  <a:pt x="5540340" y="4114800"/>
                </a:lnTo>
                <a:lnTo>
                  <a:pt x="5540340" y="0"/>
                </a:lnTo>
                <a:lnTo>
                  <a:pt x="0" y="0"/>
                </a:lnTo>
                <a:lnTo>
                  <a:pt x="0" y="411480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7" id="7"/>
          <p:cNvSpPr/>
          <p:nvPr/>
        </p:nvSpPr>
        <p:spPr>
          <a:xfrm flipH="true" flipV="false" rot="-5282141">
            <a:off x="-2770170" y="-2057400"/>
            <a:ext cx="5540339" cy="4114800"/>
          </a:xfrm>
          <a:custGeom>
            <a:avLst/>
            <a:gdLst/>
            <a:ahLst/>
            <a:cxnLst/>
            <a:rect r="r" b="b" t="t" l="l"/>
            <a:pathLst>
              <a:path h="4114800" w="5540339">
                <a:moveTo>
                  <a:pt x="5540340" y="0"/>
                </a:moveTo>
                <a:lnTo>
                  <a:pt x="0" y="0"/>
                </a:lnTo>
                <a:lnTo>
                  <a:pt x="0" y="4114800"/>
                </a:lnTo>
                <a:lnTo>
                  <a:pt x="5540340" y="4114800"/>
                </a:lnTo>
                <a:lnTo>
                  <a:pt x="554034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8" id="8"/>
          <p:cNvSpPr txBox="true"/>
          <p:nvPr/>
        </p:nvSpPr>
        <p:spPr>
          <a:xfrm rot="0">
            <a:off x="3250176" y="3346704"/>
            <a:ext cx="8503920" cy="5541264"/>
          </a:xfrm>
          <a:prstGeom prst="rect">
            <a:avLst/>
          </a:prstGeom>
        </p:spPr>
        <p:txBody>
          <a:bodyPr anchor="t" rtlCol="false" tIns="0" lIns="0" bIns="0" rIns="0" wrap="square">
            <a:spAutoFit/>
          </a:bodyPr>
          <a:lstStyle/>
          <a:p>
            <a:pPr algn="ctr">
              <a:lnSpc>
                <a:spcPts val="3499"/>
              </a:lnSpc>
            </a:pPr>
          </a:p>
          <a:p>
            <a:pPr algn="l" marL="539749" indent="-269875" lvl="1">
              <a:lnSpc>
                <a:spcPct val="100000"/>
              </a:lnSpc>
              <a:spcBef>
                <a:spcPts val="0"/>
              </a:spcBef>
              <a:spcAft>
                <a:spcPts val="900"/>
              </a:spcAft>
              <a:buFont typeface="Arial"/>
              <a:buChar char="•"/>
            </a:pPr>
            <a:r>
              <a:rPr lang="en-US" sz="1550" b="1">
                <a:solidFill>
                  <a:srgbClr val="000000"/>
                </a:solidFill>
                <a:latin typeface="Aristotelica Pro"/>
                <a:ea typeface="Aristotelica Pro"/>
                <a:cs typeface="Aristotelica Pro"/>
                <a:sym typeface="Aristotelica Pro"/>
              </a:rPr>
              <a:t>Components.  </a:t>
            </a:r>
            <a:r>
              <a:rPr lang="en-US" sz="1550" b="0">
                <a:solidFill>
                  <a:srgbClr val="000000"/>
                </a:solidFill>
                <a:latin typeface="Aristotelica Pro"/>
                <a:ea typeface="Aristotelica Pro"/>
                <a:cs typeface="Aristotelica Pro"/>
                <a:sym typeface="Aristotelica Pro"/>
              </a:rPr>
              <a:t>The React control room polls the FastAPI backend every 1.5s. FastAPI validates the job and calls the decision engine, which scores every candidate window and returns RUN or WAIT. APScheduler fires the job at the chosen moment; the executor burns real CPU and writes a hash receipt. State is checkpointed to disk.</a:t>
            </a:r>
          </a:p>
          <a:p>
            <a:pPr algn="l" marL="539749" indent="-269875" lvl="1">
              <a:lnSpc>
                <a:spcPct val="100000"/>
              </a:lnSpc>
              <a:spcBef>
                <a:spcPts val="0"/>
              </a:spcBef>
              <a:spcAft>
                <a:spcPts val="900"/>
              </a:spcAft>
              <a:buFont typeface="Arial"/>
              <a:buChar char="•"/>
            </a:pPr>
            <a:r>
              <a:rPr lang="en-US" sz="1550" b="1">
                <a:solidFill>
                  <a:srgbClr val="000000"/>
                </a:solidFill>
                <a:latin typeface="Aristotelica Pro"/>
                <a:ea typeface="Aristotelica Pro"/>
                <a:cs typeface="Aristotelica Pro"/>
                <a:sym typeface="Aristotelica Pro"/>
              </a:rPr>
              <a:t>Workflow.  </a:t>
            </a:r>
            <a:r>
              <a:rPr lang="en-US" sz="1550" b="0">
                <a:solidFill>
                  <a:srgbClr val="000000"/>
                </a:solidFill>
                <a:latin typeface="Aristotelica Pro"/>
                <a:ea typeface="Aristotelica Pro"/>
                <a:cs typeface="Aristotelica Pro"/>
                <a:sym typeface="Aristotelica Pro"/>
              </a:rPr>
              <a:t>Submit → forecast fetch (cached, offline fallback) → candidate enumeration → carbon scoring → decision → scheduled dispatch → execution → receipt verification.</a:t>
            </a:r>
          </a:p>
          <a:p>
            <a:pPr algn="l" marL="539749" indent="-269875" lvl="1">
              <a:lnSpc>
                <a:spcPct val="100000"/>
              </a:lnSpc>
              <a:spcBef>
                <a:spcPts val="0"/>
              </a:spcBef>
              <a:spcAft>
                <a:spcPts val="900"/>
              </a:spcAft>
              <a:buFont typeface="Arial"/>
              <a:buChar char="•"/>
            </a:pPr>
            <a:r>
              <a:rPr lang="en-US" sz="1550" b="1">
                <a:solidFill>
                  <a:srgbClr val="000000"/>
                </a:solidFill>
                <a:latin typeface="Aristotelica Pro"/>
                <a:ea typeface="Aristotelica Pro"/>
                <a:cs typeface="Aristotelica Pro"/>
                <a:sym typeface="Aristotelica Pro"/>
              </a:rPr>
              <a:t>Tech stack.  </a:t>
            </a:r>
            <a:r>
              <a:rPr lang="en-US" sz="1550" b="0">
                <a:solidFill>
                  <a:srgbClr val="000000"/>
                </a:solidFill>
                <a:latin typeface="Aristotelica Pro"/>
                <a:ea typeface="Aristotelica Pro"/>
                <a:cs typeface="Aristotelica Pro"/>
                <a:sym typeface="Aristotelica Pro"/>
              </a:rPr>
              <a:t>Python 3.11, FastAPI, APScheduler, Pydantic v2, httpx; React 19, Vite 8, Tailwind v4; pytest and Playwright; GitHub Actions CI.</a:t>
            </a:r>
          </a:p>
          <a:p>
            <a:pPr algn="l" marL="539749" indent="-269875" lvl="1">
              <a:lnSpc>
                <a:spcPct val="100000"/>
              </a:lnSpc>
              <a:spcBef>
                <a:spcPts val="0"/>
              </a:spcBef>
              <a:spcAft>
                <a:spcPts val="900"/>
              </a:spcAft>
              <a:buFont typeface="Arial"/>
              <a:buChar char="•"/>
            </a:pPr>
            <a:r>
              <a:rPr lang="en-US" sz="1550" b="1">
                <a:solidFill>
                  <a:srgbClr val="000000"/>
                </a:solidFill>
                <a:latin typeface="Aristotelica Pro"/>
                <a:ea typeface="Aristotelica Pro"/>
                <a:cs typeface="Aristotelica Pro"/>
                <a:sym typeface="Aristotelica Pro"/>
              </a:rPr>
              <a:t>External services.  </a:t>
            </a:r>
            <a:r>
              <a:rPr lang="en-US" sz="1550" b="0">
                <a:solidFill>
                  <a:srgbClr val="000000"/>
                </a:solidFill>
                <a:latin typeface="Aristotelica Pro"/>
                <a:ea typeface="Aristotelica Pro"/>
                <a:cs typeface="Aristotelica Pro"/>
                <a:sym typeface="Aristotelica Pro"/>
              </a:rPr>
              <a:t>UK National Grid Carbon Intensity API — GET /intensity/fw24h, 48 half-hour slots, no API key. Cached, with a fallback curve so a demo survives without internet. No AI models, no paid services.</a:t>
            </a:r>
          </a:p>
          <a:p>
            <a:pPr algn="l" marL="539749" indent="-269875" lvl="1">
              <a:lnSpc>
                <a:spcPct val="100000"/>
              </a:lnSpc>
              <a:spcBef>
                <a:spcPts val="0"/>
              </a:spcBef>
              <a:spcAft>
                <a:spcPts val="900"/>
              </a:spcAft>
              <a:buFont typeface="Arial"/>
              <a:buChar char="•"/>
            </a:pPr>
            <a:r>
              <a:rPr lang="en-US" sz="1550" b="1">
                <a:solidFill>
                  <a:srgbClr val="000000"/>
                </a:solidFill>
                <a:latin typeface="Aristotelica Pro"/>
                <a:ea typeface="Aristotelica Pro"/>
                <a:cs typeface="Aristotelica Pro"/>
                <a:sym typeface="Aristotelica Pro"/>
              </a:rPr>
              <a:t>Key technical choices.  </a:t>
            </a:r>
            <a:r>
              <a:rPr lang="en-US" sz="1550" b="0">
                <a:solidFill>
                  <a:srgbClr val="000000"/>
                </a:solidFill>
                <a:latin typeface="Aristotelica Pro"/>
                <a:ea typeface="Aristotelica Pro"/>
                <a:cs typeface="Aristotelica Pro"/>
                <a:sym typeface="Aristotelica Pro"/>
              </a:rPr>
              <a:t>Breakpoint enumeration instead of sampling — provably optimal and still instant. Fractional-slot energy weighting, so a 45-minute job is not charged two full half-hours. A virtual clock with re-anchoring, so compressed time never jumps. A real workload with a hash receipt, so execution is verifiable.</a:t>
            </a:r>
          </a:p>
          <a:p>
            <a:pPr algn="l" marL="539749" indent="-269875" lvl="1">
              <a:lnSpc>
                <a:spcPct val="100000"/>
              </a:lnSpc>
              <a:spcBef>
                <a:spcPts val="0"/>
              </a:spcBef>
              <a:spcAft>
                <a:spcPts val="900"/>
              </a:spcAft>
              <a:buFont typeface="Arial"/>
              <a:buChar char="•"/>
            </a:pPr>
            <a:r>
              <a:rPr lang="en-US" sz="1550" b="1">
                <a:solidFill>
                  <a:srgbClr val="000000"/>
                </a:solidFill>
                <a:latin typeface="Aristotelica Pro"/>
                <a:ea typeface="Aristotelica Pro"/>
                <a:cs typeface="Aristotelica Pro"/>
                <a:sym typeface="Aristotelica Pro"/>
              </a:rPr>
              <a:t>GitHub.  </a:t>
            </a:r>
            <a:r>
              <a:rPr lang="en-US" sz="1550" b="0">
                <a:solidFill>
                  <a:srgbClr val="000000"/>
                </a:solidFill>
                <a:latin typeface="Aristotelica Pro"/>
                <a:ea typeface="Aristotelica Pro"/>
                <a:cs typeface="Aristotelica Pro"/>
                <a:sym typeface="Aristotelica Pro"/>
              </a:rPr>
              <a:t>github.com/krishiyswim23-swagger/ECO---ARB — 29 backend tests, Playwright smoke, CI green.</a:t>
            </a:r>
          </a:p>
        </p:txBody>
      </p:sp>
      <p:sp>
        <p:nvSpPr>
          <p:cNvPr name="TextBox 9" id="9"/>
          <p:cNvSpPr txBox="true"/>
          <p:nvPr/>
        </p:nvSpPr>
        <p:spPr>
          <a:xfrm rot="0">
            <a:off x="3566325" y="2240280"/>
            <a:ext cx="10972800" cy="960120"/>
          </a:xfrm>
          <a:prstGeom prst="rect">
            <a:avLst/>
          </a:prstGeom>
        </p:spPr>
        <p:txBody>
          <a:bodyPr anchor="t" rtlCol="false" tIns="0" lIns="0" bIns="0" rIns="0" wrap="square">
            <a:spAutoFit/>
          </a:bodyPr>
          <a:lstStyle/>
          <a:p>
            <a:pPr algn="l">
              <a:lnSpc>
                <a:spcPts val="8400"/>
              </a:lnSpc>
            </a:pPr>
            <a:r>
              <a:rPr lang="en-US" b="true" sz="5400">
                <a:solidFill>
                  <a:srgbClr val="000000"/>
                </a:solidFill>
                <a:latin typeface="Aristotelica Pro Bold"/>
                <a:ea typeface="Aristotelica Pro Bold"/>
                <a:cs typeface="Aristotelica Pro Bold"/>
                <a:sym typeface="Aristotelica Pro Bold"/>
              </a:rPr>
              <a:t>HOW IT WORKS</a:t>
            </a:r>
          </a:p>
        </p:txBody>
      </p:sp>
      <p:sp>
        <p:nvSpPr>
          <p:cNvPr name="Freeform 10" id="10"/>
          <p:cNvSpPr/>
          <p:nvPr/>
        </p:nvSpPr>
        <p:spPr>
          <a:xfrm flipH="false" flipV="false" rot="0">
            <a:off x="1648815" y="1492060"/>
            <a:ext cx="2435805" cy="657704"/>
          </a:xfrm>
          <a:custGeom>
            <a:avLst/>
            <a:gdLst/>
            <a:ahLst/>
            <a:cxnLst/>
            <a:rect r="r" b="b" t="t" l="l"/>
            <a:pathLst>
              <a:path h="657704" w="2435805">
                <a:moveTo>
                  <a:pt x="0" y="0"/>
                </a:moveTo>
                <a:lnTo>
                  <a:pt x="2435805" y="0"/>
                </a:lnTo>
                <a:lnTo>
                  <a:pt x="2435805" y="657704"/>
                </a:lnTo>
                <a:lnTo>
                  <a:pt x="0" y="657704"/>
                </a:lnTo>
                <a:lnTo>
                  <a:pt x="0" y="0"/>
                </a:lnTo>
                <a:close/>
              </a:path>
            </a:pathLst>
          </a:custGeom>
          <a:blipFill>
            <a:blip r:embed="rId6"/>
            <a:stretch>
              <a:fillRect l="-694" t="-655" r="0" b="-655"/>
            </a:stretch>
          </a:blipFill>
        </p:spPr>
      </p:sp>
      <p:sp>
        <p:nvSpPr>
          <p:cNvPr name="Freeform 11" id="11"/>
          <p:cNvSpPr/>
          <p:nvPr/>
        </p:nvSpPr>
        <p:spPr>
          <a:xfrm flipH="false" flipV="false" rot="0">
            <a:off x="14279580" y="1492060"/>
            <a:ext cx="2326125" cy="741604"/>
          </a:xfrm>
          <a:custGeom>
            <a:avLst/>
            <a:gdLst/>
            <a:ahLst/>
            <a:cxnLst/>
            <a:rect r="r" b="b" t="t" l="l"/>
            <a:pathLst>
              <a:path h="741604" w="2326125">
                <a:moveTo>
                  <a:pt x="0" y="0"/>
                </a:moveTo>
                <a:lnTo>
                  <a:pt x="2326126" y="0"/>
                </a:lnTo>
                <a:lnTo>
                  <a:pt x="2326126" y="741604"/>
                </a:lnTo>
                <a:lnTo>
                  <a:pt x="0" y="741604"/>
                </a:lnTo>
                <a:lnTo>
                  <a:pt x="0" y="0"/>
                </a:lnTo>
                <a:close/>
              </a:path>
            </a:pathLst>
          </a:custGeom>
          <a:blipFill>
            <a:blip r:embed="rId7"/>
            <a:stretch>
              <a:fillRect l="0" t="0" r="0" b="0"/>
            </a:stretch>
          </a:blipFill>
        </p:spPr>
      </p:sp>
      <p:sp>
        <p:nvSpPr>
          <p:cNvPr name="Freeform 12" id="12"/>
          <p:cNvSpPr/>
          <p:nvPr/>
        </p:nvSpPr>
        <p:spPr>
          <a:xfrm flipH="false" flipV="false" rot="0">
            <a:off x="6853577" y="185376"/>
            <a:ext cx="4580845" cy="1306684"/>
          </a:xfrm>
          <a:custGeom>
            <a:avLst/>
            <a:gdLst/>
            <a:ahLst/>
            <a:cxnLst/>
            <a:rect r="r" b="b" t="t" l="l"/>
            <a:pathLst>
              <a:path h="1306684" w="4580845">
                <a:moveTo>
                  <a:pt x="0" y="0"/>
                </a:moveTo>
                <a:lnTo>
                  <a:pt x="4580846" y="0"/>
                </a:lnTo>
                <a:lnTo>
                  <a:pt x="4580846" y="1306684"/>
                </a:lnTo>
                <a:lnTo>
                  <a:pt x="0" y="1306684"/>
                </a:lnTo>
                <a:lnTo>
                  <a:pt x="0" y="0"/>
                </a:lnTo>
                <a:close/>
              </a:path>
            </a:pathLst>
          </a:custGeom>
          <a:blipFill>
            <a:blip r:embed="rId8"/>
            <a:stretch>
              <a:fillRect l="0" t="0" r="0" b="0"/>
            </a:stretch>
          </a:blipFill>
        </p:spPr>
      </p:sp>
      <p:pic>
        <p:nvPicPr>
          <p:cNvPr id="13" name="Picture 12" descr="crop-forecast.png"/>
          <p:cNvPicPr>
            <a:picLocks noChangeAspect="1"/>
          </p:cNvPicPr>
          <p:nvPr/>
        </p:nvPicPr>
        <p:blipFill>
          <a:blip r:embed="rId9"/>
          <a:stretch>
            <a:fillRect/>
          </a:stretch>
        </p:blipFill>
        <p:spPr>
          <a:xfrm>
            <a:off x="12161520" y="3346704"/>
            <a:ext cx="5257800" cy="1316736"/>
          </a:xfrm>
          <a:prstGeom prst="rect">
            <a:avLst/>
          </a:prstGeom>
        </p:spPr>
      </p:pic>
      <p:pic>
        <p:nvPicPr>
          <p:cNvPr id="14" name="Picture 13" descr="crop-transparency.png"/>
          <p:cNvPicPr>
            <a:picLocks noChangeAspect="1"/>
          </p:cNvPicPr>
          <p:nvPr/>
        </p:nvPicPr>
        <p:blipFill>
          <a:blip r:embed="rId10"/>
          <a:stretch>
            <a:fillRect/>
          </a:stretch>
        </p:blipFill>
        <p:spPr>
          <a:xfrm>
            <a:off x="12161520" y="4892040"/>
            <a:ext cx="2487168" cy="2633472"/>
          </a:xfrm>
          <a:prstGeom prst="rect">
            <a:avLst/>
          </a:prstGeom>
        </p:spPr>
      </p:pic>
    </p:spTree>
  </p:cSld>
  <p:clrMapOvr>
    <a:masterClrMapping/>
  </p:clrMapOvr>
</p:sld>
</file>

<file path=ppt/slides/slide6.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12890536" y="9078297"/>
            <a:ext cx="5540339" cy="4114800"/>
          </a:xfrm>
          <a:custGeom>
            <a:avLst/>
            <a:gdLst/>
            <a:ahLst/>
            <a:cxnLst/>
            <a:rect r="r" b="b" t="t" l="l"/>
            <a:pathLst>
              <a:path h="4114800" w="5540339">
                <a:moveTo>
                  <a:pt x="0" y="0"/>
                </a:moveTo>
                <a:lnTo>
                  <a:pt x="5540339" y="0"/>
                </a:lnTo>
                <a:lnTo>
                  <a:pt x="5540339" y="4114800"/>
                </a:lnTo>
                <a:lnTo>
                  <a:pt x="0" y="4114800"/>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true" flipV="false" rot="0">
            <a:off x="0" y="9078297"/>
            <a:ext cx="5540339" cy="4114800"/>
          </a:xfrm>
          <a:custGeom>
            <a:avLst/>
            <a:gdLst/>
            <a:ahLst/>
            <a:cxnLst/>
            <a:rect r="r" b="b" t="t" l="l"/>
            <a:pathLst>
              <a:path h="4114800" w="5540339">
                <a:moveTo>
                  <a:pt x="5540339" y="0"/>
                </a:moveTo>
                <a:lnTo>
                  <a:pt x="0" y="0"/>
                </a:lnTo>
                <a:lnTo>
                  <a:pt x="0" y="4114800"/>
                </a:lnTo>
                <a:lnTo>
                  <a:pt x="5540339" y="4114800"/>
                </a:lnTo>
                <a:lnTo>
                  <a:pt x="5540339"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4" id="4"/>
          <p:cNvSpPr/>
          <p:nvPr/>
        </p:nvSpPr>
        <p:spPr>
          <a:xfrm flipH="true" flipV="true" rot="0">
            <a:off x="14279580" y="-2839063"/>
            <a:ext cx="5540339" cy="4114800"/>
          </a:xfrm>
          <a:custGeom>
            <a:avLst/>
            <a:gdLst/>
            <a:ahLst/>
            <a:cxnLst/>
            <a:rect r="r" b="b" t="t" l="l"/>
            <a:pathLst>
              <a:path h="4114800" w="5540339">
                <a:moveTo>
                  <a:pt x="5540340" y="4114800"/>
                </a:moveTo>
                <a:lnTo>
                  <a:pt x="0" y="4114800"/>
                </a:lnTo>
                <a:lnTo>
                  <a:pt x="0" y="0"/>
                </a:lnTo>
                <a:lnTo>
                  <a:pt x="5540340" y="0"/>
                </a:lnTo>
                <a:lnTo>
                  <a:pt x="5540340" y="411480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5" id="5"/>
          <p:cNvSpPr/>
          <p:nvPr/>
        </p:nvSpPr>
        <p:spPr>
          <a:xfrm flipH="true" flipV="true" rot="-5282141">
            <a:off x="15660705" y="-2057400"/>
            <a:ext cx="5540339" cy="4114800"/>
          </a:xfrm>
          <a:custGeom>
            <a:avLst/>
            <a:gdLst/>
            <a:ahLst/>
            <a:cxnLst/>
            <a:rect r="r" b="b" t="t" l="l"/>
            <a:pathLst>
              <a:path h="4114800" w="5540339">
                <a:moveTo>
                  <a:pt x="5540340" y="4114800"/>
                </a:moveTo>
                <a:lnTo>
                  <a:pt x="0" y="4114800"/>
                </a:lnTo>
                <a:lnTo>
                  <a:pt x="0" y="0"/>
                </a:lnTo>
                <a:lnTo>
                  <a:pt x="5540340" y="0"/>
                </a:lnTo>
                <a:lnTo>
                  <a:pt x="5540340" y="411480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6" id="6"/>
          <p:cNvSpPr/>
          <p:nvPr/>
        </p:nvSpPr>
        <p:spPr>
          <a:xfrm flipH="false" flipV="true" rot="0">
            <a:off x="-1455720" y="-2839063"/>
            <a:ext cx="5540339" cy="4114800"/>
          </a:xfrm>
          <a:custGeom>
            <a:avLst/>
            <a:gdLst/>
            <a:ahLst/>
            <a:cxnLst/>
            <a:rect r="r" b="b" t="t" l="l"/>
            <a:pathLst>
              <a:path h="4114800" w="5540339">
                <a:moveTo>
                  <a:pt x="0" y="4114800"/>
                </a:moveTo>
                <a:lnTo>
                  <a:pt x="5540340" y="4114800"/>
                </a:lnTo>
                <a:lnTo>
                  <a:pt x="5540340" y="0"/>
                </a:lnTo>
                <a:lnTo>
                  <a:pt x="0" y="0"/>
                </a:lnTo>
                <a:lnTo>
                  <a:pt x="0" y="411480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7" id="7"/>
          <p:cNvSpPr/>
          <p:nvPr/>
        </p:nvSpPr>
        <p:spPr>
          <a:xfrm flipH="true" flipV="false" rot="-5282141">
            <a:off x="-2770170" y="-2057400"/>
            <a:ext cx="5540339" cy="4114800"/>
          </a:xfrm>
          <a:custGeom>
            <a:avLst/>
            <a:gdLst/>
            <a:ahLst/>
            <a:cxnLst/>
            <a:rect r="r" b="b" t="t" l="l"/>
            <a:pathLst>
              <a:path h="4114800" w="5540339">
                <a:moveTo>
                  <a:pt x="5540340" y="0"/>
                </a:moveTo>
                <a:lnTo>
                  <a:pt x="0" y="0"/>
                </a:lnTo>
                <a:lnTo>
                  <a:pt x="0" y="4114800"/>
                </a:lnTo>
                <a:lnTo>
                  <a:pt x="5540340" y="4114800"/>
                </a:lnTo>
                <a:lnTo>
                  <a:pt x="554034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8" id="8"/>
          <p:cNvSpPr txBox="true"/>
          <p:nvPr/>
        </p:nvSpPr>
        <p:spPr>
          <a:xfrm rot="0">
            <a:off x="3041177" y="3346704"/>
            <a:ext cx="13560552" cy="5541264"/>
          </a:xfrm>
          <a:prstGeom prst="rect">
            <a:avLst/>
          </a:prstGeom>
        </p:spPr>
        <p:txBody>
          <a:bodyPr anchor="t" rtlCol="false" tIns="0" lIns="0" bIns="0" rIns="0" wrap="square">
            <a:spAutoFit/>
          </a:bodyPr>
          <a:lstStyle/>
          <a:p>
            <a:pPr algn="l" marL="539749" indent="-269875" lvl="1">
              <a:lnSpc>
                <a:spcPct val="100000"/>
              </a:lnSpc>
              <a:spcBef>
                <a:spcPts val="0"/>
              </a:spcBef>
              <a:spcAft>
                <a:spcPts val="900"/>
              </a:spcAft>
              <a:buFont typeface="Arial"/>
              <a:buChar char="•"/>
            </a:pPr>
            <a:r>
              <a:rPr lang="en-US" sz="1600" b="1">
                <a:solidFill>
                  <a:srgbClr val="000000"/>
                </a:solidFill>
                <a:latin typeface="Aristotelica Pro"/>
                <a:ea typeface="Aristotelica Pro"/>
                <a:cs typeface="Aristotelica Pro"/>
                <a:sym typeface="Aristotelica Pro"/>
              </a:rPr>
              <a:t>What is innovative.  </a:t>
            </a:r>
            <a:r>
              <a:rPr lang="en-US" sz="1600" b="0">
                <a:solidFill>
                  <a:srgbClr val="000000"/>
                </a:solidFill>
                <a:latin typeface="Aristotelica Pro"/>
                <a:ea typeface="Aristotelica Pro"/>
                <a:cs typeface="Aristotelica Pro"/>
                <a:sym typeface="Aristotelica Pro"/>
              </a:rPr>
              <a:t>Time-shifting rather than region-shifting, so it works on a single machine in a single region — and provable optimality: we enumerate every window that can be optimal and can show the proof.</a:t>
            </a:r>
          </a:p>
          <a:p>
            <a:pPr algn="l" marL="539749" indent="-269875" lvl="1">
              <a:lnSpc>
                <a:spcPct val="100000"/>
              </a:lnSpc>
              <a:spcBef>
                <a:spcPts val="0"/>
              </a:spcBef>
              <a:spcAft>
                <a:spcPts val="900"/>
              </a:spcAft>
              <a:buFont typeface="Arial"/>
              <a:buChar char="•"/>
            </a:pPr>
            <a:r>
              <a:rPr lang="en-US" sz="1600" b="1">
                <a:solidFill>
                  <a:srgbClr val="000000"/>
                </a:solidFill>
                <a:latin typeface="Aristotelica Pro"/>
                <a:ea typeface="Aristotelica Pro"/>
                <a:cs typeface="Aristotelica Pro"/>
                <a:sym typeface="Aristotelica Pro"/>
              </a:rPr>
              <a:t>What sets it apart.  </a:t>
            </a:r>
            <a:r>
              <a:rPr lang="en-US" sz="1600" b="0">
                <a:solidFill>
                  <a:srgbClr val="000000"/>
                </a:solidFill>
                <a:latin typeface="Aristotelica Pro"/>
                <a:ea typeface="Aristotelica Pro"/>
                <a:cs typeface="Aristotelica Pro"/>
                <a:sym typeface="Aristotelica Pro"/>
              </a:rPr>
              <a:t>Existing carbon tools measure and report; ECO-ARB acts. Region-shifting schedulers need multi-region infrastructure; we need none. Our figures are separated on screen into real, derived and modelled.</a:t>
            </a:r>
          </a:p>
          <a:p>
            <a:pPr algn="l" marL="539749" indent="-269875" lvl="1">
              <a:lnSpc>
                <a:spcPct val="100000"/>
              </a:lnSpc>
              <a:spcBef>
                <a:spcPts val="0"/>
              </a:spcBef>
              <a:spcAft>
                <a:spcPts val="900"/>
              </a:spcAft>
              <a:buFont typeface="Arial"/>
              <a:buChar char="•"/>
            </a:pPr>
            <a:r>
              <a:rPr lang="en-US" sz="1600" b="1">
                <a:solidFill>
                  <a:srgbClr val="000000"/>
                </a:solidFill>
                <a:latin typeface="Aristotelica Pro"/>
                <a:ea typeface="Aristotelica Pro"/>
                <a:cs typeface="Aristotelica Pro"/>
                <a:sym typeface="Aristotelica Pro"/>
              </a:rPr>
              <a:t>What changes.  </a:t>
            </a:r>
            <a:r>
              <a:rPr lang="en-US" sz="1600" b="0">
                <a:solidFill>
                  <a:srgbClr val="000000"/>
                </a:solidFill>
                <a:latin typeface="Aristotelica Pro"/>
                <a:ea typeface="Aristotelica Pro"/>
                <a:cs typeface="Aristotelica Pro"/>
                <a:sym typeface="Aristotelica Pro"/>
              </a:rPr>
              <a:t>The same job, same deadline, same output — 34–44% less CO₂ in our measured runs. Nothing about the workload or the hardware changes.</a:t>
            </a:r>
          </a:p>
          <a:p>
            <a:pPr algn="l" marL="539749" indent="-269875" lvl="1">
              <a:lnSpc>
                <a:spcPct val="100000"/>
              </a:lnSpc>
              <a:spcBef>
                <a:spcPts val="0"/>
              </a:spcBef>
              <a:spcAft>
                <a:spcPts val="900"/>
              </a:spcAft>
              <a:buFont typeface="Arial"/>
              <a:buChar char="•"/>
            </a:pPr>
            <a:r>
              <a:rPr lang="en-US" sz="1600" b="1">
                <a:solidFill>
                  <a:srgbClr val="000000"/>
                </a:solidFill>
                <a:latin typeface="Aristotelica Pro"/>
                <a:ea typeface="Aristotelica Pro"/>
                <a:cs typeface="Aristotelica Pro"/>
                <a:sym typeface="Aristotelica Pro"/>
              </a:rPr>
              <a:t>Metrics.  </a:t>
            </a:r>
            <a:r>
              <a:rPr lang="en-US" sz="1600" b="0">
                <a:solidFill>
                  <a:srgbClr val="000000"/>
                </a:solidFill>
                <a:latin typeface="Aristotelica Pro"/>
                <a:ea typeface="Aristotelica Pro"/>
                <a:cs typeface="Aristotelica Pro"/>
                <a:sym typeface="Aristotelica Pro"/>
              </a:rPr>
              <a:t>carbon_saved_pct and baseline versus optimal gCO₂ per job; cumulative kg CO₂ avoided; share of jobs deferred; deadline-miss rate, zero by construction.</a:t>
            </a:r>
          </a:p>
          <a:p>
            <a:pPr algn="l" marL="539749" indent="-269875" lvl="1">
              <a:lnSpc>
                <a:spcPct val="100000"/>
              </a:lnSpc>
              <a:spcBef>
                <a:spcPts val="0"/>
              </a:spcBef>
              <a:spcAft>
                <a:spcPts val="900"/>
              </a:spcAft>
              <a:buFont typeface="Arial"/>
              <a:buChar char="•"/>
            </a:pPr>
            <a:r>
              <a:rPr lang="en-US" sz="1600" b="1">
                <a:solidFill>
                  <a:srgbClr val="000000"/>
                </a:solidFill>
                <a:latin typeface="Aristotelica Pro"/>
                <a:ea typeface="Aristotelica Pro"/>
                <a:cs typeface="Aristotelica Pro"/>
                <a:sym typeface="Aristotelica Pro"/>
              </a:rPr>
              <a:t>How it scales.  </a:t>
            </a:r>
            <a:r>
              <a:rPr lang="en-US" sz="1600" b="0">
                <a:solidFill>
                  <a:srgbClr val="000000"/>
                </a:solidFill>
                <a:latin typeface="Aristotelica Pro"/>
                <a:ea typeface="Aristotelica Pro"/>
                <a:cs typeface="Aristotelica Pro"/>
                <a:sym typeface="Aristotelica Pro"/>
              </a:rPr>
              <a:t>Any region publishing an intensity forecast — the engine is curve-agnostic. It drops in as a Kubernetes admission controller or a CI runner plugin, and the same search optimises price, so cost arbitrage comes free.</a:t>
            </a:r>
          </a:p>
          <a:p>
            <a:pPr algn="l" marL="539749" indent="-269875" lvl="1">
              <a:lnSpc>
                <a:spcPct val="100000"/>
              </a:lnSpc>
              <a:spcBef>
                <a:spcPts val="0"/>
              </a:spcBef>
              <a:spcAft>
                <a:spcPts val="900"/>
              </a:spcAft>
              <a:buFont typeface="Arial"/>
              <a:buChar char="•"/>
            </a:pPr>
            <a:r>
              <a:rPr lang="en-US" sz="1600" b="1">
                <a:solidFill>
                  <a:srgbClr val="000000"/>
                </a:solidFill>
                <a:latin typeface="Aristotelica Pro"/>
                <a:ea typeface="Aristotelica Pro"/>
                <a:cs typeface="Aristotelica Pro"/>
                <a:sym typeface="Aristotelica Pro"/>
              </a:rPr>
              <a:t>Beyond the hackathon.  </a:t>
            </a:r>
            <a:r>
              <a:rPr lang="en-US" sz="1600" b="0">
                <a:solidFill>
                  <a:srgbClr val="000000"/>
                </a:solidFill>
                <a:latin typeface="Aristotelica Pro"/>
                <a:ea typeface="Aristotelica Pro"/>
                <a:cs typeface="Aristotelica Pro"/>
                <a:sym typeface="Aristotelica Pro"/>
              </a:rPr>
              <a:t>A scheduling primitive: deadline, not start time. Proof it matters — our first engine only tried half-hour-aligned windows. On a 100 / 10 / 200 gCO₂ curve with a 45-minute job it ran now for 70 gCO₂; the true optimum waited 15 minutes for 40 gCO₂. 43% left on the table. Found, fixed, regression-tested.</a:t>
            </a:r>
          </a:p>
        </p:txBody>
      </p:sp>
      <p:sp>
        <p:nvSpPr>
          <p:cNvPr name="TextBox 9" id="9"/>
          <p:cNvSpPr txBox="true"/>
          <p:nvPr/>
        </p:nvSpPr>
        <p:spPr>
          <a:xfrm rot="0">
            <a:off x="3355284" y="2240280"/>
            <a:ext cx="15544800" cy="960120"/>
          </a:xfrm>
          <a:prstGeom prst="rect">
            <a:avLst/>
          </a:prstGeom>
        </p:spPr>
        <p:txBody>
          <a:bodyPr anchor="t" rtlCol="false" tIns="0" lIns="0" bIns="0" rIns="0" wrap="square">
            <a:spAutoFit/>
          </a:bodyPr>
          <a:lstStyle/>
          <a:p>
            <a:pPr algn="l">
              <a:lnSpc>
                <a:spcPts val="8400"/>
              </a:lnSpc>
            </a:pPr>
            <a:r>
              <a:rPr lang="en-US" b="true" sz="4800">
                <a:solidFill>
                  <a:srgbClr val="000000"/>
                </a:solidFill>
                <a:latin typeface="Aristotelica Pro Bold"/>
                <a:ea typeface="Aristotelica Pro Bold"/>
                <a:cs typeface="Aristotelica Pro Bold"/>
                <a:sym typeface="Aristotelica Pro Bold"/>
              </a:rPr>
              <a:t>NOVELTY, IMPACT &amp; SCALABILITY</a:t>
            </a:r>
          </a:p>
        </p:txBody>
      </p:sp>
      <p:sp>
        <p:nvSpPr>
          <p:cNvPr name="Freeform 10" id="10"/>
          <p:cNvSpPr/>
          <p:nvPr/>
        </p:nvSpPr>
        <p:spPr>
          <a:xfrm flipH="false" flipV="false" rot="0">
            <a:off x="1648815" y="1492060"/>
            <a:ext cx="2435805" cy="657704"/>
          </a:xfrm>
          <a:custGeom>
            <a:avLst/>
            <a:gdLst/>
            <a:ahLst/>
            <a:cxnLst/>
            <a:rect r="r" b="b" t="t" l="l"/>
            <a:pathLst>
              <a:path h="657704" w="2435805">
                <a:moveTo>
                  <a:pt x="0" y="0"/>
                </a:moveTo>
                <a:lnTo>
                  <a:pt x="2435805" y="0"/>
                </a:lnTo>
                <a:lnTo>
                  <a:pt x="2435805" y="657704"/>
                </a:lnTo>
                <a:lnTo>
                  <a:pt x="0" y="657704"/>
                </a:lnTo>
                <a:lnTo>
                  <a:pt x="0" y="0"/>
                </a:lnTo>
                <a:close/>
              </a:path>
            </a:pathLst>
          </a:custGeom>
          <a:blipFill>
            <a:blip r:embed="rId6"/>
            <a:stretch>
              <a:fillRect l="-694" t="-655" r="0" b="-655"/>
            </a:stretch>
          </a:blipFill>
        </p:spPr>
      </p:sp>
      <p:sp>
        <p:nvSpPr>
          <p:cNvPr name="Freeform 11" id="11"/>
          <p:cNvSpPr/>
          <p:nvPr/>
        </p:nvSpPr>
        <p:spPr>
          <a:xfrm flipH="false" flipV="false" rot="0">
            <a:off x="14279580" y="1492060"/>
            <a:ext cx="2326125" cy="741604"/>
          </a:xfrm>
          <a:custGeom>
            <a:avLst/>
            <a:gdLst/>
            <a:ahLst/>
            <a:cxnLst/>
            <a:rect r="r" b="b" t="t" l="l"/>
            <a:pathLst>
              <a:path h="741604" w="2326125">
                <a:moveTo>
                  <a:pt x="0" y="0"/>
                </a:moveTo>
                <a:lnTo>
                  <a:pt x="2326126" y="0"/>
                </a:lnTo>
                <a:lnTo>
                  <a:pt x="2326126" y="741604"/>
                </a:lnTo>
                <a:lnTo>
                  <a:pt x="0" y="741604"/>
                </a:lnTo>
                <a:lnTo>
                  <a:pt x="0" y="0"/>
                </a:lnTo>
                <a:close/>
              </a:path>
            </a:pathLst>
          </a:custGeom>
          <a:blipFill>
            <a:blip r:embed="rId7"/>
            <a:stretch>
              <a:fillRect l="0" t="0" r="0" b="0"/>
            </a:stretch>
          </a:blipFill>
        </p:spPr>
      </p:sp>
      <p:sp>
        <p:nvSpPr>
          <p:cNvPr name="Freeform 12" id="12"/>
          <p:cNvSpPr/>
          <p:nvPr/>
        </p:nvSpPr>
        <p:spPr>
          <a:xfrm flipH="false" flipV="false" rot="0">
            <a:off x="6853577" y="185376"/>
            <a:ext cx="4580845" cy="1306684"/>
          </a:xfrm>
          <a:custGeom>
            <a:avLst/>
            <a:gdLst/>
            <a:ahLst/>
            <a:cxnLst/>
            <a:rect r="r" b="b" t="t" l="l"/>
            <a:pathLst>
              <a:path h="1306684" w="4580845">
                <a:moveTo>
                  <a:pt x="0" y="0"/>
                </a:moveTo>
                <a:lnTo>
                  <a:pt x="4580846" y="0"/>
                </a:lnTo>
                <a:lnTo>
                  <a:pt x="4580846" y="1306684"/>
                </a:lnTo>
                <a:lnTo>
                  <a:pt x="0" y="1306684"/>
                </a:lnTo>
                <a:lnTo>
                  <a:pt x="0" y="0"/>
                </a:lnTo>
                <a:close/>
              </a:path>
            </a:pathLst>
          </a:custGeom>
          <a:blipFill>
            <a:blip r:embed="rId8"/>
            <a:stretch>
              <a:fillRect l="0" t="0" r="0" b="0"/>
            </a:stretch>
          </a:blipFill>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DAHVhpV8P-M</dc:identifier>
  <dcterms:modified xsi:type="dcterms:W3CDTF">2011-08-01T06:04:30Z</dcterms:modified>
  <cp:revision>1</cp:revision>
  <dc:title>vinhack 2026 template</dc:title>
</cp:coreProperties>
</file>