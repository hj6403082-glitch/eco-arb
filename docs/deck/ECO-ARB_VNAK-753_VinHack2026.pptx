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ECO-ARB by team VNAK-753. Batch jobs have deadlines, not start times. We move them to the cleanest window and prove the work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Deadline, not start time. The grid swings 4-5x a day and nobody schedules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Deadline is the constraint. Breakpoint enumeration gives provable optimality.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before commit. Provenance on every number. Plain-English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link on screen. 29 tests, Playwright smoke, CI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43% counterexample: we found a correctness bug in our own optimizer and can prove it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1554480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VINHACK 2026  ·  GRAVITAS ’26  ·  CLIMATE TECH AND RESILIENCE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22960" y="1874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ECO-ARB</a:t>
            </a:r>
            <a:endParaRPr lang="en-US" sz="7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3218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with the grid.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3950208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carbon-aware scheduler that moves deferrable compute to the cleanest half-hour the electricity grid will offer before your deadline — and proves the work actually ran.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822960" y="5870448"/>
            <a:ext cx="2706624" cy="969264"/>
          </a:xfrm>
          <a:prstGeom prst="roundRect">
            <a:avLst>
              <a:gd name="adj" fmla="val 1320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60704" y="5998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60704" y="6254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712464" y="5870448"/>
            <a:ext cx="2706624" cy="969264"/>
          </a:xfrm>
          <a:prstGeom prst="roundRect">
            <a:avLst>
              <a:gd name="adj" fmla="val 1320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950208" y="5998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3950208" y="6254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Tech and Resilience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01968" y="5870448"/>
            <a:ext cx="2706624" cy="969264"/>
          </a:xfrm>
          <a:prstGeom prst="roundRect">
            <a:avLst>
              <a:gd name="adj" fmla="val 1320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39712" y="5998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39712" y="6254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718718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7616952"/>
            <a:ext cx="182880" cy="182880"/>
          </a:xfrm>
          <a:prstGeom prst="ellipse">
            <a:avLst/>
          </a:prstGeom>
          <a:solidFill>
            <a:srgbClr val="C6F24E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152144" y="7534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KRISHIYKEISHAV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5166360" y="7616952"/>
            <a:ext cx="182880" cy="182880"/>
          </a:xfrm>
          <a:prstGeom prst="ellipse">
            <a:avLst/>
          </a:prstGeom>
          <a:solidFill>
            <a:srgbClr val="C6F24E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95544" y="7534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 CHANDRA KUMAR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822960" y="8183880"/>
            <a:ext cx="182880" cy="182880"/>
          </a:xfrm>
          <a:prstGeom prst="ellipse">
            <a:avLst/>
          </a:prstGeom>
          <a:solidFill>
            <a:srgbClr val="C6F24E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152144" y="8101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ANUWIN SARAVANAN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5166360" y="8183880"/>
            <a:ext cx="182880" cy="182880"/>
          </a:xfrm>
          <a:prstGeom prst="ellipse">
            <a:avLst/>
          </a:prstGeom>
          <a:solidFill>
            <a:srgbClr val="C6F24E"/>
          </a:solidFill>
          <a:ln w="12700">
            <a:solidFill>
              <a:srgbClr val="C6F24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495544" y="8101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NAVINRAJ A</a:t>
            </a:r>
            <a:endParaRPr lang="en-US" sz="1450" dirty="0"/>
          </a:p>
        </p:txBody>
      </p:sp>
      <p:pic>
        <p:nvPicPr>
          <p:cNvPr id="27" name="Image 3" descr="crop-over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103120"/>
            <a:ext cx="7635240" cy="55778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829800" y="7772400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control room · real UK National Grid forecast, real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9674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  ·  ECO-ARB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4721840" y="9674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481328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1847088"/>
            <a:ext cx="1463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work. Wrong hour.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822960" y="2889504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compute runs the instant it is submitted, on whatever electricity happens to be in the wires. Carbon intensity of the UK grid swings four to five times across a single day, so identical work emits wildly different amounts for one reason only — when it started.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822960" y="3913632"/>
            <a:ext cx="52303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207008" y="4187952"/>
            <a:ext cx="4462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60–350</a:t>
            </a:r>
            <a:pPr indent="0" marL="0"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gCO₂/kWh</a:t>
            </a:r>
            <a:endParaRPr lang="en-US" sz="4600" dirty="0"/>
          </a:p>
        </p:txBody>
      </p:sp>
      <p:sp>
        <p:nvSpPr>
          <p:cNvPr id="12" name="Text 7"/>
          <p:cNvSpPr txBox="1"/>
          <p:nvPr/>
        </p:nvSpPr>
        <p:spPr>
          <a:xfrm>
            <a:off x="1207008" y="4992624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the UK grid moves through within one ordinary day.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28816" y="3913632"/>
            <a:ext cx="52303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12864" y="4187952"/>
            <a:ext cx="4462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4–5×</a:t>
            </a:r>
            <a:pPr indent="0" marL="0"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difference</a:t>
            </a:r>
            <a:endParaRPr lang="en-US" sz="4600" dirty="0"/>
          </a:p>
        </p:txBody>
      </p:sp>
      <p:sp>
        <p:nvSpPr>
          <p:cNvPr id="15" name="Text 10"/>
          <p:cNvSpPr txBox="1"/>
          <p:nvPr/>
        </p:nvSpPr>
        <p:spPr>
          <a:xfrm>
            <a:off x="6912864" y="4992624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same energy, same output — decided purely by start time.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2234672" y="3913632"/>
            <a:ext cx="5230368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2618720" y="4187952"/>
            <a:ext cx="4462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pPr indent="0" marL="0"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avoided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12618720" y="4992624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our own engine on a real 9 kWh, 45-minute job.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22960" y="5998464"/>
            <a:ext cx="7973568" cy="3346704"/>
          </a:xfrm>
          <a:prstGeom prst="roundRect">
            <a:avLst>
              <a:gd name="adj" fmla="val 382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207008" y="6327648"/>
            <a:ext cx="7205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IT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07008" y="6711696"/>
            <a:ext cx="7205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DevOps and research-computing teams running nightly builds, CI pipelines, model training, backups and simulation sweeps.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data-centre operators under emissions-reporting obligations.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and the public — demand that ignores supply forces dirtier plant online at peak.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9491472" y="5998464"/>
            <a:ext cx="7973568" cy="3346704"/>
          </a:xfrm>
          <a:prstGeom prst="roundRect">
            <a:avLst>
              <a:gd name="adj" fmla="val 382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875520" y="6327648"/>
            <a:ext cx="7205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TODAY’S TOOLS MISS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9875520" y="6711696"/>
            <a:ext cx="7205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optimise latency, queue depth and cost. None of them optimise carbon.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dashboards report emissions after the fact — they measure, they do not act.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options that do exist shift jobs between regions, which needs multi-region infrastructure most teams simply do not have.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822960" y="9436608"/>
            <a:ext cx="1591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fit — Climate Tech and Resilience:  </a:t>
            </a:r>
            <a:pPr indent="0" marL="0"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real emissions with no new hardware and no change to the job itself, while pulling demand toward renewable surplus, which is exactly what a resilient grid needs.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9674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  ·  ECO-ARB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4721840" y="9674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481328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1847088"/>
            <a:ext cx="1463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deadline as the only constraint.</a:t>
            </a:r>
            <a:endParaRPr lang="en-US" sz="4400" dirty="0"/>
          </a:p>
        </p:txBody>
      </p:sp>
      <p:sp>
        <p:nvSpPr>
          <p:cNvPr id="9" name="Text 4"/>
          <p:cNvSpPr txBox="1"/>
          <p:nvPr/>
        </p:nvSpPr>
        <p:spPr>
          <a:xfrm>
            <a:off x="822960" y="2889504"/>
            <a:ext cx="1591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ECO-ARB a job, an energy budget and a deadline. It decides when that job runs — and then actually runs it.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822960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097280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097280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5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kWh, duration, deadline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163824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3538728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813048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813048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3813048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UK grid curve, 48 slots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879592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254496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528816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528816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</a:t>
            </a:r>
            <a:endParaRPr lang="en-US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6528816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that can be optimal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9536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970264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244584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244584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50" dirty="0"/>
          </a:p>
        </p:txBody>
      </p:sp>
      <p:sp>
        <p:nvSpPr>
          <p:cNvPr id="28" name="Text 23"/>
          <p:cNvSpPr txBox="1"/>
          <p:nvPr/>
        </p:nvSpPr>
        <p:spPr>
          <a:xfrm>
            <a:off x="9244584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or WAIT until T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131112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11686032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1960352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11960352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50" dirty="0"/>
          </a:p>
        </p:txBody>
      </p:sp>
      <p:sp>
        <p:nvSpPr>
          <p:cNvPr id="33" name="Text 28"/>
          <p:cNvSpPr txBox="1"/>
          <p:nvPr/>
        </p:nvSpPr>
        <p:spPr>
          <a:xfrm>
            <a:off x="11960352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CPU work at the chosen time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14026896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14401800" y="3621024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4676120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4676120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550" dirty="0"/>
          </a:p>
        </p:txBody>
      </p:sp>
      <p:sp>
        <p:nvSpPr>
          <p:cNvPr id="38" name="Text 33"/>
          <p:cNvSpPr txBox="1"/>
          <p:nvPr/>
        </p:nvSpPr>
        <p:spPr>
          <a:xfrm>
            <a:off x="14676120" y="4407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SHA-256 receipt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822960" y="5358384"/>
            <a:ext cx="5230368" cy="3986784"/>
          </a:xfrm>
          <a:prstGeom prst="roundRect">
            <a:avLst>
              <a:gd name="adj" fmla="val 3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207008" y="568756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1207008" y="6071616"/>
            <a:ext cx="4462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cares when a nightly build runs, only that it is done by morning.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treat start time as free and the deadline as fixed.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over a fixed-width window is piecewise-linear in start time, so the optimum sits at a breakpoint — a finite, enumerable set.</a:t>
            </a:r>
            <a:endParaRPr lang="en-US" sz="1450" dirty="0"/>
          </a:p>
        </p:txBody>
      </p:sp>
      <p:sp>
        <p:nvSpPr>
          <p:cNvPr id="42" name="Shape 37"/>
          <p:cNvSpPr/>
          <p:nvPr/>
        </p:nvSpPr>
        <p:spPr>
          <a:xfrm>
            <a:off x="6528816" y="5358384"/>
            <a:ext cx="5230368" cy="3986784"/>
          </a:xfrm>
          <a:prstGeom prst="roundRect">
            <a:avLst>
              <a:gd name="adj" fmla="val 3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912864" y="568756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50" dirty="0"/>
          </a:p>
        </p:txBody>
      </p:sp>
      <p:sp>
        <p:nvSpPr>
          <p:cNvPr id="44" name="Text 39"/>
          <p:cNvSpPr txBox="1"/>
          <p:nvPr/>
        </p:nvSpPr>
        <p:spPr>
          <a:xfrm>
            <a:off x="6912864" y="6071616"/>
            <a:ext cx="4462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National Grid forecast ingest, with provenance on every slot.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optimal window search, not sampling.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workload execution with a verifiable hash receipt.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re-planning — a deferred job moves if the forecast improves.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 that scores a job without queueing it.</a:t>
            </a:r>
            <a:endParaRPr lang="en-US" sz="1450" dirty="0"/>
          </a:p>
        </p:txBody>
      </p:sp>
      <p:sp>
        <p:nvSpPr>
          <p:cNvPr id="45" name="Shape 40"/>
          <p:cNvSpPr/>
          <p:nvPr/>
        </p:nvSpPr>
        <p:spPr>
          <a:xfrm>
            <a:off x="12234672" y="5358384"/>
            <a:ext cx="5230368" cy="3986784"/>
          </a:xfrm>
          <a:prstGeom prst="roundRect">
            <a:avLst>
              <a:gd name="adj" fmla="val 3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2618720" y="568756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USER</a:t>
            </a:r>
            <a:endParaRPr lang="en-US" sz="1250" dirty="0"/>
          </a:p>
        </p:txBody>
      </p:sp>
      <p:sp>
        <p:nvSpPr>
          <p:cNvPr id="47" name="Text 42"/>
          <p:cNvSpPr txBox="1"/>
          <p:nvPr/>
        </p:nvSpPr>
        <p:spPr>
          <a:xfrm>
            <a:off x="12618720" y="6071616"/>
            <a:ext cx="4462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work, same deadline, same output — up to 44% less CO₂.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change, no cloud migration, no edit to the job itself.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is labelled real, derived or modelled.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is never missed: a job with no room to defer simply runs now.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9674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  ·  ECO-ARB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4721840" y="9674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481328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USER EXPERIENCE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1847088"/>
            <a:ext cx="1463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submit to receipt.</a:t>
            </a:r>
            <a:endParaRPr lang="en-US" sz="4400" dirty="0"/>
          </a:p>
        </p:txBody>
      </p:sp>
      <p:sp>
        <p:nvSpPr>
          <p:cNvPr id="9" name="Shape 4"/>
          <p:cNvSpPr/>
          <p:nvPr/>
        </p:nvSpPr>
        <p:spPr>
          <a:xfrm>
            <a:off x="822960" y="2962656"/>
            <a:ext cx="2852928" cy="1298448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78992" y="31089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8992" y="33649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workload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36758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kWh, duration, deadline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3685032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4059936" y="2962656"/>
            <a:ext cx="2852928" cy="1298448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315968" y="31089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315968" y="33649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315968" y="36758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window before committing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922008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296912" y="2962656"/>
            <a:ext cx="2852928" cy="1298448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552944" y="31089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552944" y="33649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552944" y="36758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jobs with their windows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0158984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10533888" y="2962656"/>
            <a:ext cx="2852928" cy="1298448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789920" y="31089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0789920" y="33649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0789920" y="36758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updates as the forecast moves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1339596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13770864" y="2962656"/>
            <a:ext cx="2852928" cy="1298448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4026896" y="31089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14026896" y="33649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4026896" y="36758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chain, independently verified</a:t>
            </a:r>
            <a:endParaRPr lang="en-US" sz="1150" dirty="0"/>
          </a:p>
        </p:txBody>
      </p:sp>
      <p:pic>
        <p:nvPicPr>
          <p:cNvPr id="33" name="Image 3" descr="crop-workloa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0"/>
            <a:ext cx="9692640" cy="4773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22960" y="94000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view — four deferred workloads, each with its chosen execution window and estimated reduction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11027664" y="4572000"/>
            <a:ext cx="6437376" cy="4773168"/>
          </a:xfrm>
          <a:prstGeom prst="roundRect">
            <a:avLst>
              <a:gd name="adj" fmla="val 26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1411712" y="49011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THAT MATTER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11411712" y="5285232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carries its provenance — real, derived or modelled — on screen, not in a footnote.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ships a plain-English reason, so the user never has to trust a bare percentage.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is non-mutating: you can score a job without committing it to the queue.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compression is labelled at all times, and never speeds up the workload itself.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ARIA labels throughout, and CI fails the build on any mobile overflow or JavaScript runtime error.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9674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  ·  ECO-ARB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4721840" y="9674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481328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IT WORKS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1847088"/>
            <a:ext cx="1463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system, sharp edges.</a:t>
            </a:r>
            <a:endParaRPr lang="en-US" sz="4400" dirty="0"/>
          </a:p>
        </p:txBody>
      </p:sp>
      <p:sp>
        <p:nvSpPr>
          <p:cNvPr id="9" name="Shape 4"/>
          <p:cNvSpPr/>
          <p:nvPr/>
        </p:nvSpPr>
        <p:spPr>
          <a:xfrm>
            <a:off x="822960" y="2926080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78992" y="3090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78992" y="33649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UI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36941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/api/state at 1.5s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3877056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4224528" y="2926080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480560" y="3090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3649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15 routes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36941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scores, serves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7278624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626096" y="2926080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C6F24E">
              <a:alpha val="10000"/>
            </a:srgbClr>
          </a:solidFill>
          <a:ln w="12700">
            <a:solidFill>
              <a:srgbClr val="C6F24E">
                <a:alpha val="38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882128" y="3090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7882128" y="33649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search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882128" y="36941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RUN or WAIT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0680192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11027664" y="2926080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1283696" y="3090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283696" y="33649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+ worker pool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1283696" y="36941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at the chosen time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140817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14429232" y="2926080"/>
            <a:ext cx="3017520" cy="1517904"/>
          </a:xfrm>
          <a:prstGeom prst="roundRect">
            <a:avLst>
              <a:gd name="adj" fmla="val 843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4685264" y="3090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14685264" y="33649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CPU workload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4685264" y="36941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hash receipt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22960" y="4700016"/>
            <a:ext cx="7973568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207008" y="48646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1207008" y="5138928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National Grid Carbon Intensity API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GET /intensity/fw24h  ·  48 half-hour forecast slots  ·  no API key  ·  cached, with an offline fallback curve so a demo survives without internet.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9491472" y="4700016"/>
            <a:ext cx="7973568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875520" y="48646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9875520" y="5138928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FastAPI  ·  APScheduler  ·  Pydantic v2  ·  httpx  ·  React 19  ·  Vite 8  ·  Tailwind v4  ·  pytest  ·  Playwright  ·  GitHub Actions CI</a:t>
            </a:r>
            <a:endParaRPr lang="en-US" sz="1350" dirty="0"/>
          </a:p>
        </p:txBody>
      </p:sp>
      <p:sp>
        <p:nvSpPr>
          <p:cNvPr id="39" name="Shape 34"/>
          <p:cNvSpPr/>
          <p:nvPr/>
        </p:nvSpPr>
        <p:spPr>
          <a:xfrm>
            <a:off x="822960" y="6272784"/>
            <a:ext cx="16642080" cy="2615184"/>
          </a:xfrm>
          <a:prstGeom prst="roundRect">
            <a:avLst>
              <a:gd name="adj" fmla="val 489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207008" y="6455664"/>
            <a:ext cx="1591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CHOICES, AND WHY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1207008" y="67848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enumeration, not sampling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1207008" y="7077456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over a window is piecewise-linear, so ~100 candidates cover every possible optimum. Provable, and still instant.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9198864" y="67848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Fractional-slot energy weighting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9198864" y="7077456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job is charged 15 minutes of one slot and 30 of the next — never two full half-hours.</a:t>
            </a:r>
            <a:endParaRPr lang="en-US" sz="1250" dirty="0"/>
          </a:p>
        </p:txBody>
      </p:sp>
      <p:sp>
        <p:nvSpPr>
          <p:cNvPr id="45" name="Text 40"/>
          <p:cNvSpPr txBox="1"/>
          <p:nvPr/>
        </p:nvSpPr>
        <p:spPr>
          <a:xfrm>
            <a:off x="1207008" y="7827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clock with re-anchoring</a:t>
            </a:r>
            <a:endParaRPr lang="en-US" sz="1400" dirty="0"/>
          </a:p>
        </p:txBody>
      </p:sp>
      <p:sp>
        <p:nvSpPr>
          <p:cNvPr id="46" name="Text 41"/>
          <p:cNvSpPr txBox="1"/>
          <p:nvPr/>
        </p:nvSpPr>
        <p:spPr>
          <a:xfrm>
            <a:off x="1207008" y="811987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demo replay a full day in four minutes without the clock ever jumping or losing continuity.</a:t>
            </a:r>
            <a:endParaRPr lang="en-US" sz="1250" dirty="0"/>
          </a:p>
        </p:txBody>
      </p:sp>
      <p:sp>
        <p:nvSpPr>
          <p:cNvPr id="47" name="Text 42"/>
          <p:cNvSpPr txBox="1"/>
          <p:nvPr/>
        </p:nvSpPr>
        <p:spPr>
          <a:xfrm>
            <a:off x="9198864" y="7827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workload + chained SHA-256</a:t>
            </a:r>
            <a:endParaRPr lang="en-US" sz="1400" dirty="0"/>
          </a:p>
        </p:txBody>
      </p:sp>
      <p:sp>
        <p:nvSpPr>
          <p:cNvPr id="48" name="Text 43"/>
          <p:cNvSpPr txBox="1"/>
          <p:nvPr/>
        </p:nvSpPr>
        <p:spPr>
          <a:xfrm>
            <a:off x="9198864" y="811987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is verifiable rather than simulated; the receipt is recomputed independently on request.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822960" y="9070848"/>
            <a:ext cx="16642080" cy="658368"/>
          </a:xfrm>
          <a:prstGeom prst="roundRect">
            <a:avLst>
              <a:gd name="adj" fmla="val 19444"/>
            </a:avLst>
          </a:prstGeom>
          <a:solidFill>
            <a:srgbClr val="C6F24E">
              <a:alpha val="10000"/>
            </a:srgbClr>
          </a:solidFill>
          <a:ln w="12700">
            <a:solidFill>
              <a:srgbClr val="C6F24E">
                <a:alpha val="3800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207008" y="9217152"/>
            <a:ext cx="1591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buNone/>
            </a:pPr>
            <a:r>
              <a:rPr lang="en-US" sz="16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github.com/krishiyswim23-swagger/ECO---ARB</a:t>
            </a:r>
            <a:pPr indent="0" marL="0">
              <a:buNone/>
            </a:pPr>
            <a:r>
              <a:rPr lang="en-US" sz="13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29 backend tests  ·  end-to-end Playwright smoke  ·  CI green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ravit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"/>
            <a:ext cx="1984248" cy="566928"/>
          </a:xfrm>
          <a:prstGeom prst="rect">
            <a:avLst/>
          </a:prstGeom>
        </p:spPr>
      </p:pic>
      <p:pic>
        <p:nvPicPr>
          <p:cNvPr id="3" name="Image 1" descr="logo-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5968" y="420624"/>
            <a:ext cx="1719072" cy="466344"/>
          </a:xfrm>
          <a:prstGeom prst="rect">
            <a:avLst/>
          </a:prstGeom>
        </p:spPr>
      </p:pic>
      <p:pic>
        <p:nvPicPr>
          <p:cNvPr id="4" name="Image 2" descr="logo-vinnov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040" y="448056"/>
            <a:ext cx="1325880" cy="42062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22960" y="9674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VNAK - 753  ·  ECO-ARB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4721840" y="9674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7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1481328"/>
            <a:ext cx="1280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NOVELTY, IMPACT &amp; SCALABILITY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1847088"/>
            <a:ext cx="1463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optimal. Honestly reported.</a:t>
            </a:r>
            <a:endParaRPr lang="en-US" sz="4400" dirty="0"/>
          </a:p>
        </p:txBody>
      </p:sp>
      <p:sp>
        <p:nvSpPr>
          <p:cNvPr id="9" name="Shape 4"/>
          <p:cNvSpPr/>
          <p:nvPr/>
        </p:nvSpPr>
        <p:spPr>
          <a:xfrm>
            <a:off x="822960" y="2944368"/>
            <a:ext cx="5230368" cy="3895344"/>
          </a:xfrm>
          <a:prstGeom prst="roundRect">
            <a:avLst>
              <a:gd name="adj" fmla="val 328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207008" y="327355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DISTINCTIVE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1207008" y="3657600"/>
            <a:ext cx="44622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Time-shifting, not region-shifting — works on a single machine in a single region.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optimality: we enumerate every window that can be optimal, and can show the proof.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is verifiable, not simulated — a cryptographic receipt per job.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honesty: real, derived and modelled figures are separated on screen.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528816" y="2944368"/>
            <a:ext cx="5230368" cy="3895344"/>
          </a:xfrm>
          <a:prstGeom prst="roundRect">
            <a:avLst>
              <a:gd name="adj" fmla="val 328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12864" y="327355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912864" y="3657600"/>
            <a:ext cx="44622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carbon_saved_pct and baseline vs optimal gCO₂, recorded per job.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kg CO₂ avoided across completed workloads.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submitted jobs successfully deferred.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Deadline-miss rate — zero by construction; an infeasible job runs immediately.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34–44% reduction across the demo workload set.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2234672" y="2944368"/>
            <a:ext cx="5230368" cy="3895344"/>
          </a:xfrm>
          <a:prstGeom prst="roundRect">
            <a:avLst>
              <a:gd name="adj" fmla="val 328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9C8FD0">
                <a:alpha val="2800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2618720" y="327355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0" y="3657600"/>
            <a:ext cx="44622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region publishing an intensity forecast — the engine is curve-agnostic.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 as a Kubernetes admission controller or a CI runner plugin.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regional grids, embodied carbon and data-centre PUE.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search optimises price, so cost arbitrage comes free.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hackathon: a scheduling primitive — deadline, not start time.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822960" y="7114032"/>
            <a:ext cx="16642080" cy="2395728"/>
          </a:xfrm>
          <a:prstGeom prst="roundRect">
            <a:avLst>
              <a:gd name="adj" fmla="val 5344"/>
            </a:avLst>
          </a:prstGeom>
          <a:solidFill>
            <a:srgbClr val="C6F24E">
              <a:alpha val="10000"/>
            </a:srgbClr>
          </a:solidFill>
          <a:ln w="12700">
            <a:solidFill>
              <a:srgbClr val="C6F24E">
                <a:alpha val="3800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207008" y="7296912"/>
            <a:ext cx="1591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— WHY “EVERY WINDOW” MATTERS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207008" y="7607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engine only tried windows starting on a half-hour boundary. On a grid curve of 100, 10, 200 gCO₂/kWh with a 45-minute, 1 kWh job: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207008" y="8101584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Start-aligned search  →  run at 12:00  =  70 gCO₂   (0% saved)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optimum  →  wait to 12:15  =  40 gCO₂   (43% saved)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1247120" y="7607808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6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start-aligned search straddles the clean slot instead of sitting inside it. We found this in our own code, fixed it, and pinned it with a regression test — brute-forcing every minute of the horizon now agrees with the engine exactly.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ECO-ARB - VinHack 2026</dc:title>
  <dc:subject>PptxGenJS Presentation</dc:subject>
  <dc:creator>VNAK - 753</dc:creator>
  <cp:lastModifiedBy>VNAK - 753</cp:lastModifiedBy>
  <cp:revision>1</cp:revision>
  <dcterms:created xsi:type="dcterms:W3CDTF">2026-09-18T20:59:33Z</dcterms:created>
  <dcterms:modified xsi:type="dcterms:W3CDTF">2026-09-18T20:59:33Z</dcterms:modified>
</cp:coreProperties>
</file>